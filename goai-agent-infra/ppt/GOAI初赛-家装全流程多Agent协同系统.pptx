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 × i-home.life 真实全流程能力 × MCP 2026-07-28 规范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AR 量房、手绘草图、CAD 图纸、语音指令到方案设计、算量报价、采购施工、质检结算的端到端自动化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657600"/>
            <a:ext cx="64008" cy="12344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个领域 Agent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 / 设计 / 预算 / 采购 / 施工 / 质检 / 结算…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8912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657600"/>
            <a:ext cx="64008" cy="12344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个 API 模块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1772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AR·VR·CAD·BIM·语音·智能家居全链路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0" y="36576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55280" y="3657600"/>
            <a:ext cx="64008" cy="12344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83880" y="381304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规范 8 项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83880" y="420624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全实现 · 工具连接层标准解耦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队伍：索克家居 · i-home.life ｜ 基于 AgentTeams（agentscope-ai/AgentTeams v1.2.0）与 i-home.life v1.3.1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126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初赛 V2.0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INDUSTRY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行业背景：家装 AI 从"像素生成"到"空间智能"的范式转移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《2026 中国智能家装设计行业发展白皮书》· 空间智能三能力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7568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1938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空间感知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228600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看懂户型图，识别墙体/门窗/承重结构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017520"/>
            <a:ext cx="365760" cy="365760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03580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28986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空间推理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判断动线是否合理、空间是否被浪费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760720" cy="82296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977640"/>
            <a:ext cx="365760" cy="365760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995928"/>
            <a:ext cx="365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385876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空间交互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206240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把设计方案转化为可执行的施工指令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89204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市场：AI 室内设计 2025 年 32.8 亿美元 → 2033 年 150 亿美元（CAGR 20.9%）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头部玩家对标（2026-07 建博会 / WAIC）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0" y="182880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192024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金牌家居 · 飞流AI 3.1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766560" y="2231136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上传户型图 5 分钟输出全套交付物 + 承重墙识别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766560" y="2450592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局限：单点设计，非全流程多 Agent 协同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583680" y="278892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0" y="288036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三维家 · AI 工作台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766560" y="3191256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多专家智能体 + 图形软件连接器 + 异构应用 Hub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3410712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局限：侧重设计↔生产，开放协议弱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583680" y="3749040"/>
            <a:ext cx="5029200" cy="914400"/>
          </a:xfrm>
          <a:prstGeom prst="roundRect">
            <a:avLst>
              <a:gd name="adj" fmla="val 6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384048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欧派 · AI 设计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766560" y="4151376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分钟全屋方案 + 5 秒渲染 + 设计到生产一键输出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66560" y="4370832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局限：定制家居闭环，非开放平台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544068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440680"/>
            <a:ext cx="91440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57784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索克差异化定位：不做"效果图工具"，而是家装全流程多 Agent 自主协同 + 标准 MCP 基础设施 —— 真实业务闭环（23 Agent / 60 API / 90 Service）+ 开放协议（MCP 2026-07-28 规范 8 项）+ 可编排协同层（AgentTeams）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索克家居能力全景：真实全流程自动化闭环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6517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0299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多模态输入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237744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量房 / 手绘草图 / CAD / 拍照 / 语音 / 文本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36976" y="219456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46304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1463040"/>
            <a:ext cx="2651760" cy="82296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16" name="Text 14"/>
          <p:cNvSpPr/>
          <p:nvPr/>
        </p:nvSpPr>
        <p:spPr>
          <a:xfrm>
            <a:off x="352044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20299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520440" y="237744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Orchestrator 37 意图 + AgentTeams Manager-Workers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71616" y="219456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146304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2651760" cy="82296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20299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355080" y="237744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+ 11 类分空间设计器 + 施工图 + BIM/IFC + 渲染 + VR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906256" y="219456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52560" y="146304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0" y="146304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28" name="Text 26"/>
          <p:cNvSpPr/>
          <p:nvPr/>
        </p:nvSpPr>
        <p:spPr>
          <a:xfrm>
            <a:off x="9189720" y="162763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89720" y="202996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预算算量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189720" y="237744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/ 分项报价 / 智能家居方案与布线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342900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3429000"/>
            <a:ext cx="26517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59359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" y="39959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85800" y="434340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物料比价 / 担保支付 / 物流 / 拍照上架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36976" y="416052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383280" y="342900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3280" y="3429000"/>
            <a:ext cx="26517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3520440" y="359359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3520440" y="39959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3520440" y="434340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任务池 / 工程队匹配 / 三方 IM / 变更审批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071616" y="416052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217920" y="342900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217920" y="3429000"/>
            <a:ext cx="2651760" cy="82296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5" name="Text 43"/>
          <p:cNvSpPr/>
          <p:nvPr/>
        </p:nvSpPr>
        <p:spPr>
          <a:xfrm>
            <a:off x="6355080" y="359359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355080" y="39959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质检结算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6355080" y="434340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验收报告 / 图纸比对 / 里程碑结算 / 支付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906256" y="4160520"/>
            <a:ext cx="146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052560" y="3429000"/>
            <a:ext cx="26517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52560" y="3429000"/>
            <a:ext cx="2651760" cy="82296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51" name="Text 49"/>
          <p:cNvSpPr/>
          <p:nvPr/>
        </p:nvSpPr>
        <p:spPr>
          <a:xfrm>
            <a:off x="9189720" y="3593592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89720" y="39959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智能运营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9189720" y="4343400"/>
            <a:ext cx="23957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 / 健康 / 场景自动化 / 预测性维护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诚实边界：质检缺陷识别（mock CV）、VR 渲染、AI 渲染 L1/L2 为标注降级；其余环节均为真实计算/生成逻辑（60 API 模块 / 50 ORM / 1491 测试全绿）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SPATIAL PERCEPTION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多模态采集：对齐 2026 白皮书"空间感知"能力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 空间测量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31520" y="196596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LiDAR / 视觉 SLAM / 摄影测量 / 手动四级降级，RMS 精度报告，墙面特征识别（承重/门窗/梁柱）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0832" y="146304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463040"/>
            <a:ext cx="228600" cy="4114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手绘草图转 3D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53712" y="196596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Sketch-to-3D：识别墙/门/窗/面积/房间数，生成 3D 布局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93024" y="146304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463040"/>
            <a:ext cx="228600" cy="4114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59105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 图纸导入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75904" y="196596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DXF 解析（ezdxf：LINE/圆/弧/文字）+ DWG 转换，2D CAD 编辑器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83280"/>
            <a:ext cx="228600" cy="41148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51129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拍照识别产品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31520" y="388620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供应商拍照上架：多模态 AI 识别产品 + 确认创建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70832" y="338328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83280"/>
            <a:ext cx="228600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51129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语音全双工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53712" y="388620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Qwen-Audio-3.0-Realtime：流式 ASR+TTS、工具调用、双工打断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193024" y="338328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3024" y="3383280"/>
            <a:ext cx="228600" cy="41148"/>
          </a:xfrm>
          <a:prstGeom prst="rect">
            <a:avLst/>
          </a:prstGeom>
          <a:solidFill>
            <a:srgbClr val="00183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51129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户型 SSOT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75904" y="388620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floorplan.data 单一数据源，支撑施工图/BIM/算量自动生成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空间数据全链路：采集（多模态）→ 结构化（floorplan SSOT）→ 消费（设计/图纸/BIM/算量）→ 交付（施工/验收）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总控编排：i-home.life 总控 × AgentTeams 协同的映射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120640" cy="2377440"/>
          </a:xfrm>
          <a:prstGeom prst="roundRect">
            <a:avLst>
              <a:gd name="adj" fmla="val 2308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727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总控层（真实）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OrchestratorAgent：37 类意图 LLM 分类 + 规则降级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232257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AgentRuntime/Harness：生命周期·追踪·降级策略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2706624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语音并行编排："同时/另外/再帮我"多任务调度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090672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SSE 流式：thinking_step 展示 Agent 决策过程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19672" y="1463040"/>
            <a:ext cx="5120640" cy="2377440"/>
          </a:xfrm>
          <a:prstGeom prst="roundRect">
            <a:avLst>
              <a:gd name="adj" fmla="val 230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2552" y="157276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协同层（开源编排）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02552" y="1938528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Manager-Workers：任务拆解 → 路由 → 并行执行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702552" y="232257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Matrix 透明房间：人可随时介入/纠正/回放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02552" y="2706624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MinIO 共享文件：中间产物交换，防 Token 爆炸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02552" y="3090672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Worker 经 ihome-mcp Skill 调 i-home.life MCP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069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赛题要求映射到框架能力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434840"/>
            <a:ext cx="2651760" cy="132588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4348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45537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873752"/>
            <a:ext cx="23957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Agent ↔ 8 Worker/Leader 映射表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83280" y="4434840"/>
            <a:ext cx="2651760" cy="132588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3280" y="44348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3520440" y="45537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20440" y="4873752"/>
            <a:ext cx="23957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 意图分类 + Manager 子任务路由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17920" y="4434840"/>
            <a:ext cx="2651760" cy="132588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44348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1" name="Text 29"/>
          <p:cNvSpPr/>
          <p:nvPr/>
        </p:nvSpPr>
        <p:spPr>
          <a:xfrm>
            <a:off x="6355080" y="45537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55080" y="4873752"/>
            <a:ext cx="23957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房间 + MinIO + 会话持久化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052560" y="4434840"/>
            <a:ext cx="2651760" cy="132588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52560" y="4434840"/>
            <a:ext cx="22860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189720" y="455371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协同执行/状态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9720" y="4873752"/>
            <a:ext cx="23957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Trace + 房间进度汇报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5897880"/>
            <a:ext cx="11064240" cy="502920"/>
          </a:xfrm>
          <a:prstGeom prst="roundRect">
            <a:avLst>
              <a:gd name="adj" fmla="val 10909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7240" y="5971032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任务示例："请为 120 平三居制定完整装修方案" → Manager 拆解 → 设计/预算/采购/施工/质检 Worker 经 MCP 并行取数 → 汇总全案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DOMAIN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设计域：从空间理解到交付物一键生成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937760" cy="4480560"/>
          </a:xfrm>
          <a:prstGeom prst="roundRect">
            <a:avLst>
              <a:gd name="adj" fmla="val 1224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72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方案生成与迭代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DesignerAgent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9385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套平面布局 + 动线分析（空间推理）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4871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讨论式方案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24871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2-3 套方案 + 语音增量修订（"方案 B 加中岛"）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 ×11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60320" y="3035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厨房/卫浴/硬装/软装/灯光/家具/家电/门窗/定制/土建/机电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584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施工图自动生成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35844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模型即图纸：平/立/剖面 SVG 自动重生成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1330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 / IFC 导出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0" y="4133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IFC4 真实坐标 + Pset 属性（GB 50500/50854）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 L0-L3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0320" y="468172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ControlNet → mock → 占位 → 503 诚实降级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2303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523036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全景图 + 热点 + 场景组合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521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一次任务 · 全套交付物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52160" y="1874520"/>
            <a:ext cx="64008" cy="82296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方案布局图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03504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 + 动线 + 3D 户型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78240" y="187452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78240" y="1874520"/>
            <a:ext cx="64008" cy="822960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施工图纸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961120" y="22860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平/立/剖面 SVG（模型即图纸）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216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2834640"/>
            <a:ext cx="64008" cy="82296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35" name="Text 33"/>
          <p:cNvSpPr/>
          <p:nvPr/>
        </p:nvSpPr>
        <p:spPr>
          <a:xfrm>
            <a:off x="603504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BIM/IFC4 文件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03504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真实坐标 + Pset 属性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778240" y="28346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78240" y="2834640"/>
            <a:ext cx="64008" cy="82296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渲染效果图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961120" y="32461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2D/3D/照片重布置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85216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852160" y="3794760"/>
            <a:ext cx="64008" cy="82296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43" name="Text 41"/>
          <p:cNvSpPr/>
          <p:nvPr/>
        </p:nvSpPr>
        <p:spPr>
          <a:xfrm>
            <a:off x="603504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VR 全景漫游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03504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720° 场景 + 热点跳转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778240" y="379476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78240" y="3794760"/>
            <a:ext cx="64008" cy="822960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47" name="Text 45"/>
          <p:cNvSpPr/>
          <p:nvPr/>
        </p:nvSpPr>
        <p:spPr>
          <a:xfrm>
            <a:off x="8961120" y="388620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算量报价清单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961120" y="420624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正向算量 → 分项报价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对标：飞流AI 上传户型图 5 分钟出全套交付物 —— 索克以开放 MCP 协议 + 多 Agent 编排实现同等闭环，且能力可组合、可迁移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工程化：ihome-mcp 能力抽象层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ihome-mcp（核心 Skill，5+ Worker 复用）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7510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1680" y="19751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Skill — 外部系统集成能力封装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871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1680" y="248716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call &lt;tool&gt; &lt;JSON 参数&gt;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9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1680" y="29992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JSON-RPC 响应（含 source 来源标注）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调用条件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35112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需项目设计/预算/物料/施工/质检数据时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Server（2026-07-28 规范）+ PASETO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5354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11680" y="45354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登录/调用失败返回 error JSON，如实说明不编造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99262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04748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11680" y="504748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凭据 .env 600 权限；只读为主；红线拒绝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50468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011680" y="5559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5+ Worker 复用；可沉淀为分发 Skill 包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工具能力矩阵（10 个）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0" y="192024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get_design_layout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098280" y="19202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设计方案布局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607040" y="193852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19659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00800" y="230428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generate_design_proposals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098280" y="230428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生成设计方案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607040" y="232257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10607040" y="235000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400800" y="268833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update_design_proposal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098280" y="268833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更新设计提案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607040" y="270662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5" name="Text 43"/>
          <p:cNvSpPr/>
          <p:nvPr/>
        </p:nvSpPr>
        <p:spPr>
          <a:xfrm>
            <a:off x="10607040" y="273405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400800" y="3072384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get_budget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098280" y="307238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项目预算查询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0607040" y="309067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10607040" y="311810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400800" y="345643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search_materials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98280" y="34564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装修物料搜索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607040" y="347472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5FC"/>
          </a:solidFill>
          <a:ln/>
        </p:spPr>
      </p:sp>
      <p:sp>
        <p:nvSpPr>
          <p:cNvPr id="53" name="Text 51"/>
          <p:cNvSpPr/>
          <p:nvPr/>
        </p:nvSpPr>
        <p:spPr>
          <a:xfrm>
            <a:off x="10607040" y="350215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400800" y="384048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get_construction_progress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9098280" y="38404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施工进度查询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07040" y="385876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388620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construction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400800" y="422452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run_qa_inspection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098280" y="422452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质量检测执行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0607040" y="424281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8E8"/>
          </a:solidFill>
          <a:ln/>
        </p:spPr>
      </p:sp>
      <p:sp>
        <p:nvSpPr>
          <p:cNvPr id="61" name="Text 59"/>
          <p:cNvSpPr/>
          <p:nvPr/>
        </p:nvSpPr>
        <p:spPr>
          <a:xfrm>
            <a:off x="10607040" y="427024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400800" y="460857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launch_agent_task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9098280" y="460857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 Agent 任务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10607040" y="462686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65" name="Text 63"/>
          <p:cNvSpPr/>
          <p:nvPr/>
        </p:nvSpPr>
        <p:spPr>
          <a:xfrm>
            <a:off x="10607040" y="465429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INTEGRATION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工具连接层：2026-07-28 规范 8 项全实现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stateless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323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无会话握手，请求自描述可横向扩展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server/discover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4787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能力发现 RPC，统一接入入口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header-routing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38251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Mcp-Method / Mcp-Name 头路由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5256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1715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cacheable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1715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tools/list ETag/304 缓存语义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MRTR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1323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多轮往返协作，采样/追问回传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8328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787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RFC 9207 + CIMD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54787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授权硬化，替代 DCR 注册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38251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tasks/* 扩展，任务生命周期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05256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1715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 Card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921715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.well-known/mcp 标准化发现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调用链路：ihome-mcp Skill → POST /api/mcp（JSON-RPC 2.0 + Bearer PASETO）→ tools/call → 真实业务数据（source 透明标注）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OBSERVABILITY &amp; EVAL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可观测三支柱 + 领域评估体系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35661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链路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追踪 + AgentHarness 执行轨迹（状态/Token/工具调用链/降级信息）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508760"/>
            <a:ext cx="35661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日志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53712" y="21031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structlog 结构化 JSON，PII 脱敏 + trace_id 关联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3024" y="150876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508760"/>
            <a:ext cx="35661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指标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75904" y="21031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Prometheus：请求/LLM 调用/DB 查询/缓存命中率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IHomeEval 领域评估（10 维度）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报价准确性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98064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设计安全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47488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材料禁忌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296912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越权防护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546336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流式延迟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降级率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98064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98064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工具调用准确率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47488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思维链泄漏率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296912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96912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合规率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546336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46336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反面论证质量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诚实降级原则：数据来源 db / estimated_fallback / sample_fallback 透明标注，禁止伪装真实能力（历史教训：修复 6 处硬编码假数据）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 &amp; AUDIT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安全边界：可运行、可验证、可审计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PASETO v4.local 鉴权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 JWT；密钥 ≥32 字节硬校验；Worker 仅持消费令牌，真实凭证由 Higress 网关托管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27632"/>
            <a:ext cx="384048" cy="384048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 审计防篡改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audit_log 写入自动签名（SHA256 + 密钥版本化），批量完整性校验，PII 脱敏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缓存用户隔离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 cache key 强制含 user_id，未传直接 raise（cache_user_isolation_strict）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182112"/>
            <a:ext cx="384048" cy="38404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变更单状态机审批；高风险动作人工确认；DB 备份回滚 + feature-flag 回退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736592"/>
            <a:ext cx="384048" cy="384048"/>
          </a:xfrm>
          <a:prstGeom prst="ellipse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8016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硬约束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承重墙 / 报价含税 / 环保等级 / 工期缓冲 / 水电 / 逃生通道 / 燃气安全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736592"/>
            <a:ext cx="384048" cy="384048"/>
          </a:xfrm>
          <a:prstGeom prst="ellipse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0372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角色-权限表 + 项目归属校验（IDOR 防护），跨项目访问 403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运行验证：线上部署已实测打通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部署环境（已在线）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v1.2.0（controller / manager / dashboard / Element Web）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i-home.life v1.3.1（FastAPI · 118.31.223.213:8081）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家装团队 ihome-team：1 Leader + 5 Worker 全部 Running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演示数据：120 平三居 · 预算 ¥157,250 · 4 施工任务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实测调用链路（已验证）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ihome-budget → get_budget → 三档预算 + source 标注 ✅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4652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ihome-construction → get_construction_progress → 8 阶段进度 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4652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ihome-procurement → search_materials → 物料列表 ✅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4652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tools/list → 10 个家装工具可发现 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演示流程：业主在 Element Web 下达任务 → Manager 拆解 → 5 Worker 并行经 MCP 取数 → 汇总装修全案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输入任务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2834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Manager 拆解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120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Worker 执行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06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MCP 取数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9692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汇总验证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开放/开源计划：可复用、可验证、可迁移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91440" cy="14630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Worker 模板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SOUL.md + Agent Identity 清单，任何垂直行业可复制建团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91440" cy="14630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Skill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4652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标准化工具调用封装（登录/调用/失败处理），可分发复用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00400"/>
            <a:ext cx="91440" cy="14630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适配层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规范实现，可作为 MCP Server 接入参考实现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3200400"/>
            <a:ext cx="91440" cy="146304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分空间设计器契约 + 数据集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类设计器接口契约 + 家装样例输入输出 + 评测基线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仓库：github.com/SUOKE2024/i-home.life（已公开）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Apache-2.0（与 AgentTeams 兼容）｜ 披露：LLM 商业 API（deepseek/qwen/glm/doubao）· 第三方依赖 · 数据授权边界 ｜ 已有项目基础：i-home.life（23 Agent / 60 API / 90 Service）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 &amp; RISKS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落地计划与风险应对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3566160" cy="566928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初赛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链路验证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3246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部署、Worker 建团、MCP 调用链路、能力全景梳理 ✅ 已完成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70832" y="150876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508760"/>
            <a:ext cx="3566160" cy="566928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 复赛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53712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Demo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53712" y="2697480"/>
            <a:ext cx="3246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Element Web 全流程演示、评估数据集、Trace 看板、真实项目数据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93024" y="150876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508760"/>
            <a:ext cx="3566160" cy="566928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决赛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75904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真实项目试点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75904" y="2697480"/>
            <a:ext cx="3246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接入真实家装项目、LLM-as-Judge 评测、开源工程化、行业复制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11064240" cy="347472"/>
          </a:xfrm>
          <a:prstGeom prst="roundRect">
            <a:avLst>
              <a:gd name="adj" fmla="val 15789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248656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部分能力为诚实标注的 mock（质检缺陷 CV/VR 渲染/AI 渲染 L1/L2）→ 如实披露，作为工程边界而非隐藏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632704"/>
            <a:ext cx="11064240" cy="347472"/>
          </a:xfrm>
          <a:prstGeom prst="roundRect">
            <a:avLst>
              <a:gd name="adj" fmla="val 15789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6692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版本演进（v1.2.0 刚发布）→ 抽象 MCP 契约层，编排层可替换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6053328"/>
            <a:ext cx="11064240" cy="347472"/>
          </a:xfrm>
          <a:prstGeom prst="roundRect">
            <a:avLst>
              <a:gd name="adj" fmla="val 15789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6089904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LLM 成本与不可用 → 多供应商 fallback 链（deepseek→qwen→glm→doubao）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2026-08-01T13:21:05Z</dcterms:created>
  <dcterms:modified xsi:type="dcterms:W3CDTF">2026-08-01T13:21:05Z</dcterms:modified>
</cp:coreProperties>
</file>