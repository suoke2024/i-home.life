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2743200"/>
            <a:ext cx="3657600" cy="3657600"/>
          </a:xfrm>
          <a:prstGeom prst="ellipse">
            <a:avLst/>
          </a:prstGeom>
          <a:solidFill>
            <a:srgbClr val="003166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5577840"/>
            <a:ext cx="2926080" cy="2926080"/>
          </a:xfrm>
          <a:prstGeom prst="ellipse">
            <a:avLst/>
          </a:prstGeom>
          <a:solidFill>
            <a:srgbClr val="00316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9C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2026 · 赛道一 新智基座 | Agent Infra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家装全流程多 Agent 协同系统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AgentTeams 编排 × i-home.life 真实全流程能力 × MCP 2026-07-28 规范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A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AR 量房、手绘草图、CAD 图纸、语音指令到方案设计、算量报价、采购施工、质检结算的端到端自动化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6576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003166"/>
          </a:solidFill>
          <a:ln w="12700">
            <a:solidFill>
              <a:srgbClr val="0062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657600"/>
            <a:ext cx="64008" cy="123444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8130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个领域 Agent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4206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C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总控 / 设计 / 预算 / 采购 / 施工 / 质检 / 结算…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0" y="36576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003166"/>
          </a:solidFill>
          <a:ln w="12700">
            <a:solidFill>
              <a:srgbClr val="0062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3657600"/>
            <a:ext cx="64008" cy="1234440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38130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个 API 模块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4206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C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AR·VR·CAD·BIM·语音·智能家居全链路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55280" y="36576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003166"/>
          </a:solidFill>
          <a:ln w="12700">
            <a:solidFill>
              <a:srgbClr val="0062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3657600"/>
            <a:ext cx="64008" cy="12344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38130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规范 8 项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83880" y="4206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C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2026-07-28 全实现 · 工具连接层标准解耦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5760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A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队伍：索克家居 · i-home.life ｜ 基于 AgentTeams（agentscope-ai/AgentTeams v1.2.0）与 i-home.life v1.3.1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126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A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· 初赛 V2.0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INDUSTRY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行业背景：家装 AI 从"像素生成"到"空间智能"的范式转移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《2026 中国智能家装设计行业发展白皮书》· 空间智能三能力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760720" cy="82296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057400"/>
            <a:ext cx="365760" cy="365760"/>
          </a:xfrm>
          <a:prstGeom prst="ellipse">
            <a:avLst/>
          </a:prstGeom>
          <a:solidFill>
            <a:srgbClr val="007A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7568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1938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空间感知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2860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看懂户型图，识别墙体/门窗/承重结构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5760720" cy="82296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017520"/>
            <a:ext cx="365760" cy="36576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3580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8986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空间推理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2461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判断动线是否合理、空间是否被浪费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5760720" cy="82296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977640"/>
            <a:ext cx="365760" cy="36576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99592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858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空间交互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20624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把设计方案转化为可执行的施工指令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8920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市场：AI 室内设计 2025 年 32.8 亿美元 → 2033 年 150 亿美元（CAGR 20.9%）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0" y="1417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头部玩家对标（2026-07 建博会 / WAIC）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0" y="182880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19202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金牌家居 · 飞流AI 3.1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66560" y="223113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上传户型图 5 分钟输出全套交付物 + 承重墙识别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245059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局限：单点设计，非全流程多 Agent 协同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0" y="278892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28803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三维家 · AI 工作台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766560" y="319125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多专家智能体 + 图形软件连接器 + 异构应用 Hub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341071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局限：侧重设计↔生产，开放协议弱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83680" y="374904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38404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欧派 · AI 设计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766560" y="415137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分钟全屋方案 + 5 秒渲染 + 设计到生产一键输出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66560" y="437083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局限：定制家居闭环，非开放平台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544068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001833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5440680"/>
            <a:ext cx="91440" cy="82296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5778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索克差异化定位：不做"效果图工具"，而是家装全流程多 Agent 自主协同 + 标准 MCP 基础设施 —— 真实业务闭环（23 Agent / 60 API / 90 Service）+ 开放协议（MCP 2026-07-28 规范 8 项）+ 可编排协同层（AgentTeams）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COMPETITIVE MATRIX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竞品能力覆盖矩阵：全链路一体化是核心差异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69848"/>
                <a:gridCol w="1069848"/>
                <a:gridCol w="1069848"/>
                <a:gridCol w="1069848"/>
                <a:gridCol w="1143000"/>
                <a:gridCol w="1234440"/>
                <a:gridCol w="1755648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酷家乐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住小帮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Shapr3D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Procore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Planner5D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MagicPlan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索克家居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8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AR/LiDAR 空间测量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3D 设计建模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照片级效果图渲染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CAD 精确绘图（平立剖）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设计生成与建议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智能预算与 BOM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供应链/采购管理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施工过程管理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进度实时监控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结算/验收闭环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Agent 自治运营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18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多端协同（平板+手机）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6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2C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竞品多为单点能力（设计 or 管理 or 测量），索克家居实现测量→设计→预算→采购→施工→结算全链路一体化 + AI Agent 自治运营（✓=完全具备 △=部分 ✕=缺失）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CAPABILITY 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索克家居能力全景：真实全流程自动化闭环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651760" cy="1737360"/>
          </a:xfrm>
          <a:prstGeom prst="roundRect">
            <a:avLst>
              <a:gd name="adj" fmla="val 3158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2651760" cy="82296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27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20299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多模态输入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 量房 / 手绘草图 / CAD / 拍照 / 语音 / 文本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36976" y="219456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1463040"/>
            <a:ext cx="2651760" cy="1737360"/>
          </a:xfrm>
          <a:prstGeom prst="roundRect">
            <a:avLst>
              <a:gd name="adj" fmla="val 3158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463040"/>
            <a:ext cx="2651760" cy="82296"/>
          </a:xfrm>
          <a:prstGeom prst="rect">
            <a:avLst/>
          </a:prstGeom>
          <a:solidFill>
            <a:srgbClr val="001833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627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0440" y="20299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总控编排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20440" y="237744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 37 意图 + AgentTeams Manager-Workers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71616" y="219456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1463040"/>
            <a:ext cx="2651760" cy="1737360"/>
          </a:xfrm>
          <a:prstGeom prst="roundRect">
            <a:avLst>
              <a:gd name="adj" fmla="val 3158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463040"/>
            <a:ext cx="2651760" cy="82296"/>
          </a:xfrm>
          <a:prstGeom prst="rect">
            <a:avLst/>
          </a:prstGeom>
          <a:solidFill>
            <a:srgbClr val="0062CC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627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55080" y="20299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设计域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55080" y="237744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+ 11 类分空间设计器 + 施工图 + BIM/IFC + 渲染 + VR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906256" y="219456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52560" y="1463040"/>
            <a:ext cx="2651760" cy="1737360"/>
          </a:xfrm>
          <a:prstGeom prst="roundRect">
            <a:avLst>
              <a:gd name="adj" fmla="val 3158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52560" y="1463040"/>
            <a:ext cx="2651760" cy="82296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28" name="Text 26"/>
          <p:cNvSpPr/>
          <p:nvPr/>
        </p:nvSpPr>
        <p:spPr>
          <a:xfrm>
            <a:off x="9189720" y="1627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C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89720" y="20299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预算算量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189720" y="237744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正向算量 / 分项报价 / 智能家居方案与布线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3429000"/>
            <a:ext cx="2651760" cy="1737360"/>
          </a:xfrm>
          <a:prstGeom prst="roundRect">
            <a:avLst>
              <a:gd name="adj" fmla="val 3158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429000"/>
            <a:ext cx="2651760" cy="82296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3593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C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5800" y="39959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采购·供应链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85800" y="434340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供应商入驻审核 / 物料比价 / 担保支付 / 拍照上架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36976" y="416052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83280" y="3429000"/>
            <a:ext cx="2651760" cy="1737360"/>
          </a:xfrm>
          <a:prstGeom prst="roundRect">
            <a:avLst>
              <a:gd name="adj" fmla="val 3158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83280" y="3429000"/>
            <a:ext cx="2651760" cy="82296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9" name="Text 37"/>
          <p:cNvSpPr/>
          <p:nvPr/>
        </p:nvSpPr>
        <p:spPr>
          <a:xfrm>
            <a:off x="3520440" y="3593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520440" y="39959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施工·服务商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3520440" y="434340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工程队/技术人员入驻 / 任务池 / 三方 IM / 变更审批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071616" y="416052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17920" y="3429000"/>
            <a:ext cx="2651760" cy="1737360"/>
          </a:xfrm>
          <a:prstGeom prst="roundRect">
            <a:avLst>
              <a:gd name="adj" fmla="val 3158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17920" y="3429000"/>
            <a:ext cx="2651760" cy="82296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45" name="Text 43"/>
          <p:cNvSpPr/>
          <p:nvPr/>
        </p:nvSpPr>
        <p:spPr>
          <a:xfrm>
            <a:off x="6355080" y="3593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355080" y="39959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质检结算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6355080" y="434340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验收报告 / 图纸比对 / 里程碑结算 / 支付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906256" y="416052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052560" y="3429000"/>
            <a:ext cx="2651760" cy="1737360"/>
          </a:xfrm>
          <a:prstGeom prst="roundRect">
            <a:avLst>
              <a:gd name="adj" fmla="val 3158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52560" y="3429000"/>
            <a:ext cx="2651760" cy="82296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51" name="Text 49"/>
          <p:cNvSpPr/>
          <p:nvPr/>
        </p:nvSpPr>
        <p:spPr>
          <a:xfrm>
            <a:off x="9189720" y="3593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3B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9189720" y="39959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智能运营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9189720" y="434340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能耗 / 健康 / 场景自动化 / 预测性维护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诚实边界：质检缺陷识别（mock CV）、VR 渲染、AI 渲染 L1/L2 为标注降级；其余环节均为真实计算/生成逻辑（60 API 模块 / 50 ORM / 1491 测试全绿）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SPATIAL PERCEPTION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多模态采集：对齐 2026 白皮书"空间感知"能力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22860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910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 空间测量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196596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LiDAR / 视觉 SLAM / 摄影测量 / 手动四级降级，RMS 精度报告，墙面特征识别（承重/门窗/梁柱）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70832" y="146304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1463040"/>
            <a:ext cx="228600" cy="41148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15910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手绘草图转 3D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53712" y="196596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Sketch-to-3D：识别墙/门/窗/面积/房间数，生成 3D 布局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93024" y="146304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3024" y="1463040"/>
            <a:ext cx="228600" cy="41148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15910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CAD 图纸导入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75904" y="196596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DXF 解析（ezdxf：LINE/圆/弧/文字）+ DWG 转换，2D CAD 编辑器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383280"/>
            <a:ext cx="228600" cy="41148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5112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拍照识别产品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1520" y="388620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供应商拍照上架：多模态 AI 识别产品 + 确认创建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70832" y="338328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83280"/>
            <a:ext cx="228600" cy="41148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35112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语音全双工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53712" y="388620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Qwen-Audio-3.0-Realtime：流式 ASR+TTS、工具调用、双工打断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93024" y="338328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93024" y="3383280"/>
            <a:ext cx="228600" cy="41148"/>
          </a:xfrm>
          <a:prstGeom prst="rect">
            <a:avLst/>
          </a:prstGeom>
          <a:solidFill>
            <a:srgbClr val="001833"/>
          </a:solidFill>
          <a:ln/>
        </p:spPr>
      </p:sp>
      <p:sp>
        <p:nvSpPr>
          <p:cNvPr id="30" name="Text 28"/>
          <p:cNvSpPr/>
          <p:nvPr/>
        </p:nvSpPr>
        <p:spPr>
          <a:xfrm>
            <a:off x="8375904" y="35112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户型 SSOT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375904" y="388620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floorplan.data 单一数据源，支撑施工图/BIM/算量自动生成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空间数据全链路：采集（多模态）→ 结构化（floorplan SSOT）→ 消费（设计/图纸/BIM/算量）→ 交付（施工/验收）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总控编排：i-home.life 总控 × AgentTeams 协同的映射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120640" cy="1737360"/>
          </a:xfrm>
          <a:prstGeom prst="roundRect">
            <a:avLst>
              <a:gd name="adj" fmla="val 3158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361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i-home.life 总控层（真实）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18470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OrchestratorAgent：37 类意图 LLM 分类 + 规则降级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15798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AgentRuntime/Harness：生命周期·追踪·降级策略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语音并行编排："同时/另外/再帮我"多任务调度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77977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SSE 流式：thinking_step 展示 Agent 决策过程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19672" y="1463040"/>
            <a:ext cx="5120640" cy="1737360"/>
          </a:xfrm>
          <a:prstGeom prst="roundRect">
            <a:avLst>
              <a:gd name="adj" fmla="val 3158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2552" y="15361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AgentTeams 协同层（开源编排）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702552" y="18470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Manager-Workers：任务拆解 → 路由 → 并行执行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02552" y="215798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Matrix 透明房间：人可随时介入/纠正/回放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02552" y="24688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MinIO 共享文件：中间产物交换，防 Token 爆炸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02552" y="277977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Worker 经 ihome-mcp Skill 调 i-home.life MCP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3101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赛题要求映射到框架能力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611880"/>
            <a:ext cx="22860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6758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角色编排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395020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Agent ↔ 8 Worker 映射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361188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3611880"/>
            <a:ext cx="22860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36758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任务拆解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20440" y="395020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 意图 + Manager 路由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361188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3611880"/>
            <a:ext cx="22860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6758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上下文传递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55080" y="395020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Matrix + MinIO + 会话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052560" y="361188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52560" y="3611880"/>
            <a:ext cx="22860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5" name="Text 33"/>
          <p:cNvSpPr/>
          <p:nvPr/>
        </p:nvSpPr>
        <p:spPr>
          <a:xfrm>
            <a:off x="9189720" y="36758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协同执行/状态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189720" y="395020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Trace + 汇报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4498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人类审批节点（高风险动作人工确认 · 赛题"审批/审计"硬要求）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8640" y="480060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86460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 方案确认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834640" y="480060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34640" y="486460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 预算批准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120640" y="480060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0" y="486460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 下单确认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406640" y="480060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06640" y="486460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H4 验收确认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692640" y="480060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92640" y="486460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H5 结算确认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48640" y="5376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自主权分级（工程成熟度）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548640" y="5669280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E8F5FC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" y="5733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C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建议  Agent 建议，人类决策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383280" y="5669280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E8F5FC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93008" y="5733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C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执行+确认  自动执行，人工审批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17920" y="5669280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E8F5FC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27648" y="5733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C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自主执行  完全自主，仅通知结果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052560" y="5669280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E8F5FC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62288" y="5733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C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自适应  从历史项目持续优化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 DOMAIN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设计域：从空间理解到交付物一键生成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4937760" cy="4480560"/>
          </a:xfrm>
          <a:prstGeom prst="roundRect">
            <a:avLst>
              <a:gd name="adj" fmla="val 1224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方案生成与迭代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938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DesignerAgent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9385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套平面布局 + 动线分析（空间推理）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讨论式方案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24871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2-3 套方案 + 语音增量修订（"方案 B 加中岛"）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035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分空间设计器 ×11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30358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厨房/卫浴/硬装/软装/灯光/家具/家电/门窗/定制/土建/机电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3584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施工图自动生成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35844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模型即图纸：平/立/剖面 SVG 自动重生成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133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BIM / IFC 导出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41330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IFC4 真实坐标 + Pset 属性（GB 50500/50854）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681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渲染 L0-L3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46817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ControlNet → mock → 占位 → 503 诚实降级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5230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 全景漫游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52303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全景图 + 热点 + 场景组合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5216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一次任务 · 全套交付物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52160" y="187452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2160" y="1874520"/>
            <a:ext cx="64008" cy="82296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19659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方案布局图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035040" y="2286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平面 + 动线 + 3D 户型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778240" y="187452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0" y="1874520"/>
            <a:ext cx="64008" cy="822960"/>
          </a:xfrm>
          <a:prstGeom prst="rect">
            <a:avLst/>
          </a:prstGeom>
          <a:solidFill>
            <a:srgbClr val="0062CC"/>
          </a:solidFill>
          <a:ln/>
        </p:spPr>
      </p:sp>
      <p:sp>
        <p:nvSpPr>
          <p:cNvPr id="31" name="Text 29"/>
          <p:cNvSpPr/>
          <p:nvPr/>
        </p:nvSpPr>
        <p:spPr>
          <a:xfrm>
            <a:off x="8961120" y="19659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施工图纸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961120" y="2286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平/立/剖面 SVG（模型即图纸）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52160" y="283464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52160" y="2834640"/>
            <a:ext cx="64008" cy="822960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0" y="29260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BIM/IFC4 文件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035040" y="3246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真实坐标 + Pset 属性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778240" y="283464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78240" y="2834640"/>
            <a:ext cx="64008" cy="8229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9" name="Text 37"/>
          <p:cNvSpPr/>
          <p:nvPr/>
        </p:nvSpPr>
        <p:spPr>
          <a:xfrm>
            <a:off x="8961120" y="29260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渲染效果图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961120" y="3246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2D/3D/照片重布置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852160" y="379476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52160" y="3794760"/>
            <a:ext cx="64008" cy="822960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43" name="Text 41"/>
          <p:cNvSpPr/>
          <p:nvPr/>
        </p:nvSpPr>
        <p:spPr>
          <a:xfrm>
            <a:off x="6035040" y="38862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 全景漫游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035040" y="4206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720° 场景 + 热点跳转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778240" y="379476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0" y="3794760"/>
            <a:ext cx="64008" cy="82296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47" name="Text 45"/>
          <p:cNvSpPr/>
          <p:nvPr/>
        </p:nvSpPr>
        <p:spPr>
          <a:xfrm>
            <a:off x="8961120" y="38862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算量报价清单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961120" y="4206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正向算量 → 分项报价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对标：飞流AI 上传户型图 5 分钟出全套交付物 —— 索克以开放 MCP 协议 + 多 Agent 编排实现同等闭环，且能力可组合、可迁移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工程化：ihome-mcp 能力抽象层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ihome-mcp（核心 Skill，5+ Worker 复用）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7510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011680" y="197510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 Skill — 外部系统集成能力封装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432304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8716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011680" y="248716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 / call &lt;tool&gt; &lt;JSON 参数&gt;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944368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9992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011680" y="299923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JSON-RPC 响应（含 source 来源标注）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456432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51129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调用条件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011680" y="351129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需项目设计/预算/物料/施工/质检数据时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968496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233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011680" y="402336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i-home.life MCP Server（2026-07-28 规范）+ PASETO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53542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失败处理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011680" y="45354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登录/调用失败返回 error JSON，如实说明不编造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992624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04748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安全边界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011680" y="504748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 .env 600 权限；只读为主；红线拒绝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504688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55955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复用价值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011680" y="555955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5+ Worker 复用；可沉淀为分发 Skill 包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工具能力矩阵（10 个）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0" y="192024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get_design_layout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098280" y="192024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设计方案布局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607040" y="193852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/>
        </p:spPr>
      </p:sp>
      <p:sp>
        <p:nvSpPr>
          <p:cNvPr id="37" name="Text 35"/>
          <p:cNvSpPr/>
          <p:nvPr/>
        </p:nvSpPr>
        <p:spPr>
          <a:xfrm>
            <a:off x="10607040" y="19659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00800" y="230428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generate_design_proposals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098280" y="230428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生成设计方案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607040" y="232257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/>
        </p:spPr>
      </p:sp>
      <p:sp>
        <p:nvSpPr>
          <p:cNvPr id="41" name="Text 39"/>
          <p:cNvSpPr/>
          <p:nvPr/>
        </p:nvSpPr>
        <p:spPr>
          <a:xfrm>
            <a:off x="10607040" y="2350008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400800" y="268833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update_design_proposal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098280" y="268833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更新设计提案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607040" y="2706624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/>
        </p:spPr>
      </p:sp>
      <p:sp>
        <p:nvSpPr>
          <p:cNvPr id="45" name="Text 43"/>
          <p:cNvSpPr/>
          <p:nvPr/>
        </p:nvSpPr>
        <p:spPr>
          <a:xfrm>
            <a:off x="10607040" y="2734056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400800" y="307238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get_budget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098280" y="307238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项目预算查询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607040" y="309067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D9E9FF"/>
          </a:solidFill>
          <a:ln/>
        </p:spPr>
      </p:sp>
      <p:sp>
        <p:nvSpPr>
          <p:cNvPr id="49" name="Text 47"/>
          <p:cNvSpPr/>
          <p:nvPr/>
        </p:nvSpPr>
        <p:spPr>
          <a:xfrm>
            <a:off x="10607040" y="311810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budget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00800" y="345643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search_materials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098280" y="34564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装修物料搜索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0607040" y="347472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8F5FC"/>
          </a:solidFill>
          <a:ln/>
        </p:spPr>
      </p:sp>
      <p:sp>
        <p:nvSpPr>
          <p:cNvPr id="53" name="Text 51"/>
          <p:cNvSpPr/>
          <p:nvPr/>
        </p:nvSpPr>
        <p:spPr>
          <a:xfrm>
            <a:off x="10607040" y="3502152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C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procurement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400800" y="384048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get_construction_progress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098280" y="384048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施工进度查询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0607040" y="385876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8F8EE"/>
          </a:solidFill>
          <a:ln/>
        </p:spPr>
      </p:sp>
      <p:sp>
        <p:nvSpPr>
          <p:cNvPr id="57" name="Text 55"/>
          <p:cNvSpPr/>
          <p:nvPr/>
        </p:nvSpPr>
        <p:spPr>
          <a:xfrm>
            <a:off x="10607040" y="388620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construction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400800" y="422452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run_qa_inspection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098280" y="422452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质量检测执行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607040" y="424281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8E8"/>
          </a:solidFill>
          <a:ln/>
        </p:spPr>
      </p:sp>
      <p:sp>
        <p:nvSpPr>
          <p:cNvPr id="61" name="Text 59"/>
          <p:cNvSpPr/>
          <p:nvPr/>
        </p:nvSpPr>
        <p:spPr>
          <a:xfrm>
            <a:off x="10607040" y="4270248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400800" y="460857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launch_agent_task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9098280" y="460857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启动平台 Agent 任务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0607040" y="4626864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0F0F2"/>
          </a:solidFill>
          <a:ln/>
        </p:spPr>
      </p:sp>
      <p:sp>
        <p:nvSpPr>
          <p:cNvPr id="65" name="Text 63"/>
          <p:cNvSpPr/>
          <p:nvPr/>
        </p:nvSpPr>
        <p:spPr>
          <a:xfrm>
            <a:off x="10607040" y="4654296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orchestration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工具连接层：2026-07-28 规范 8 项全实现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63677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stateless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" y="2039112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无会话握手，请求自描述可横向扩展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50876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163677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server/discover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47872" y="2039112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能力发现 RPC，统一接入入口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50876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63677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header-routing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82512" y="2039112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Mcp-Method / Mcp-Name 头路由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52560" y="150876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7152" y="163677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cacheable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217152" y="2039112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tools/list ETag/304 缓存语义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32841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MRTR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13232" y="3730752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多轮往返协作，采样/追问回传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320040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7872" y="332841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RFC 9207 + CIMD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547872" y="3730752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授权硬化，替代 DCR 注册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20040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332841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382512" y="3730752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tasks/* 扩展，任务生命周期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052560" y="320040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17152" y="332841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 Card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217152" y="3730752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.well-known/mcp 标准化发现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调用链路：ihome-mcp Skill → POST /api/mcp（JSON-RPC 2.0 + Bearer PASETO）→ tools/call → 真实业务数据（source 透明标注）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OBSERVABILITY &amp; EVAL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可观测三支柱 + 领域评估体系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08760"/>
            <a:ext cx="3566160" cy="82296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链路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 追踪 + AgentHarness 执行轨迹（状态/Token/工具调用链/降级信息）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70832" y="150876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1508760"/>
            <a:ext cx="3566160" cy="82296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 日志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53712" y="21031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structlog 结构化 JSON，PII 脱敏 + trace_id 关联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93024" y="150876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3024" y="1508760"/>
            <a:ext cx="3566160" cy="82296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Metrics 指标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75904" y="21031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Prometheus：请求/LLM 调用/DB 查询/缓存命中率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IHomeEval 领域评估（10 维度）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3250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报价准确性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98064" y="397764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98064" y="403250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设计安全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47488" y="397764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403250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材料禁忌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296912" y="397764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403250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越权防护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546336" y="397764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46336" y="403250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流式延迟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52628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58114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降级率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98064" y="452628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98064" y="458114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工具调用准确率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47488" y="452628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458114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思维链泄漏率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296912" y="452628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96912" y="458114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HC 合规率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546336" y="452628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E8F8EE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46336" y="458114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反面论证质量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诚实降级原则：数据来源 db / estimated_fallback / sample_fallback 透明标注，禁止伪装真实能力（历史教训：修复 6 处硬编码假数据）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 &amp; AUDIT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安全边界：可运行、可验证、可审计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27632"/>
            <a:ext cx="384048" cy="384048"/>
          </a:xfrm>
          <a:prstGeom prst="ellipse">
            <a:avLst/>
          </a:prstGeom>
          <a:solidFill>
            <a:srgbClr val="007A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4592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16093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PASETO v4.local 鉴权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01168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 JWT；密钥 ≥32 字节硬校验；Worker 仅持消费令牌，真实凭证由 Higress 网关托管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46304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627632"/>
            <a:ext cx="384048" cy="384048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64592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03720" y="16093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HMAC 审计防篡改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03720" y="201168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audit_log 写入自动签名（SHA256 + 密钥版本化），批量完整性校验，PII 脱敏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182112"/>
            <a:ext cx="384048" cy="384048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0040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31638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缓存用户隔离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56616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私有数据 cache key 强制含 user_id，未传直接 raise（cache_user_isolation_strict）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301752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3182112"/>
            <a:ext cx="384048" cy="384048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320040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03720" y="31638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审批与回滚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356616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变更单状态机审批；高风险动作人工确认；DB 备份回滚 + feature-flag 回退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57200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736592"/>
            <a:ext cx="384048" cy="384048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7548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80160" y="47183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HC 硬约束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512064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承重墙 / 报价含税 / 环保等级 / 工期缓冲 / 水电 / 逃生通道 / 燃气安全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72200" y="457200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4736592"/>
            <a:ext cx="384048" cy="384048"/>
          </a:xfrm>
          <a:prstGeom prst="ellipse">
            <a:avLst/>
          </a:prstGeom>
          <a:solidFill>
            <a:srgbClr val="001833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47548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903720" y="47183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 权限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03720" y="512064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角色-权限表 + 项目归属校验（IDOR 防护），跨项目访问 403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RUNNING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运行验证：线上部署已实测打通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001833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部署环境（已在线）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AgentTeams v1.2.0（controller / manager / dashboard / Element Web）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244144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i-home.life v1.3.1（FastAPI · 118.31.223.213:8081）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82549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家装团队 ihome-team：1 Leader + 5 Worker 全部 Running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20954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演示数据：120 平三居 · 预算 ¥157,250 · 4 施工任务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6276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实测调用链路（已验证）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46520" y="205740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ihome-budget → get_budget → 三档预算 + source 标注 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46520" y="244144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ihome-construction → get_construction_progress → 8 阶段进度 ✅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6520" y="282549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ihome-procurement → search_materials → 物料列表 ✅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320954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tools/list → 10 个家装工具可发现 ✅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演示流程：业主在 Element Web 下达任务 → Manager 拆解 → 5 Worker 并行经 MCP 取数 → 汇总装修全案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389120"/>
            <a:ext cx="210312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800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输入任务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834640" y="438912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4389120"/>
            <a:ext cx="210312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26" name="Text 24"/>
          <p:cNvSpPr/>
          <p:nvPr/>
        </p:nvSpPr>
        <p:spPr>
          <a:xfrm>
            <a:off x="2834640" y="4800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Manager 拆解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120640" y="438912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0" y="4389120"/>
            <a:ext cx="210312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4800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Worker 执行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406640" y="438912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06640" y="4389120"/>
            <a:ext cx="210312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2" name="Text 30"/>
          <p:cNvSpPr/>
          <p:nvPr/>
        </p:nvSpPr>
        <p:spPr>
          <a:xfrm>
            <a:off x="7406640" y="4800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MCP 取数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692640" y="438912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92640" y="4389120"/>
            <a:ext cx="210312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5" name="Text 33"/>
          <p:cNvSpPr/>
          <p:nvPr/>
        </p:nvSpPr>
        <p:spPr>
          <a:xfrm>
            <a:off x="9692640" y="4800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汇总验证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开放/开源计划：可复用、可验证、可迁移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08760"/>
            <a:ext cx="91440" cy="146304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6733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AgentTeams Worker 模板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21031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SOUL.md + Agent Identity 清单，任何垂直行业可复制建团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50876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508760"/>
            <a:ext cx="91440" cy="1463040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6733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ihome-mcp Skill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46520" y="21031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标准化工具调用封装（登录/调用/失败处理），可分发复用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00400"/>
            <a:ext cx="91440" cy="14630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649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适配层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37947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2026-07-28 规范实现，可作为 MCP Server 接入参考实现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320040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200400"/>
            <a:ext cx="91440" cy="1463040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3649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分空间设计器契约 + 数据集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46520" y="37947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类设计器接口契约 + 家装样例输入输出 + 评测基线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E8F2FF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2578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仓库：github.com/SUOKE2024/i-home.life（已公开）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 Apache-2.0（与 AgentTeams 兼容）｜ 披露：LLM 商业 API（deepseek/qwen/glm/doubao）· 第三方依赖 · 数据授权边界 ｜ 已有项目基础：i-home.life（23 Agent / 60 API / 90 Service）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 &amp; RISKS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落地计划与风险应对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赛道一 · Agent Infra ｜ 家装全流程多 Agent 协同系统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3566160" cy="502920"/>
          </a:xfrm>
          <a:prstGeom prst="round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3619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初赛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+ 链路验证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239572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AgentTeams 部署、Worker 建团、MCP 调用链路 ✅ 已完成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70832" y="146304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0832" y="1463040"/>
            <a:ext cx="3566160" cy="502920"/>
          </a:xfrm>
          <a:prstGeom prst="roundRect">
            <a:avLst/>
          </a:prstGeom>
          <a:solidFill>
            <a:srgbClr val="007AFF"/>
          </a:solidFill>
          <a:ln/>
        </p:spPr>
      </p:sp>
      <p:sp>
        <p:nvSpPr>
          <p:cNvPr id="15" name="Text 13"/>
          <p:cNvSpPr/>
          <p:nvPr/>
        </p:nvSpPr>
        <p:spPr>
          <a:xfrm>
            <a:off x="4370832" y="153619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V1.5 复赛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53712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完整闭环 Demo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53712" y="239572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三场景可演示 + 评估数据集 + Trace 看板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93024" y="146304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93024" y="1463040"/>
            <a:ext cx="3566160" cy="502920"/>
          </a:xfrm>
          <a:prstGeom prst="roundRect">
            <a:avLst/>
          </a:prstGeom>
          <a:solidFill>
            <a:srgbClr val="FF9500"/>
          </a:solidFill>
          <a:ln/>
        </p:spPr>
      </p:sp>
      <p:sp>
        <p:nvSpPr>
          <p:cNvPr id="20" name="Text 18"/>
          <p:cNvSpPr/>
          <p:nvPr/>
        </p:nvSpPr>
        <p:spPr>
          <a:xfrm>
            <a:off x="8193024" y="153619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决赛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75904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真实项目试点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75904" y="239572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真实项目接入、LLM-as-Judge 评测、开源工程化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复赛 Demo 验收目标（借鉴 PRD Demo 规格）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5204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520440"/>
            <a:ext cx="228600" cy="411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6393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语音改设计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1520" y="395935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"拆墙做开放式加中岛" → 3D 更新 + 面积/预算联动（≤5s）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70832" y="35204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70832" y="3520440"/>
            <a:ext cx="228600" cy="41148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0" name="Text 28"/>
          <p:cNvSpPr/>
          <p:nvPr/>
        </p:nvSpPr>
        <p:spPr>
          <a:xfrm>
            <a:off x="4553712" y="36393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 AI 比价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53712" y="395935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→ 多供应商比价报告 → 一键下单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93024" y="35204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93024" y="3520440"/>
            <a:ext cx="228600" cy="41148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4" name="Text 32"/>
          <p:cNvSpPr/>
          <p:nvPr/>
        </p:nvSpPr>
        <p:spPr>
          <a:xfrm>
            <a:off x="8375904" y="36393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施工日报质检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75904" y="395935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现场照片上传 → AI 比对图纸 → 偏差标注整改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5074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风险与应对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5376672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FFF8E8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404104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部分能力为诚实标注的 mock（质检缺陷 CV/VR 渲染/AI 渲染 L1/L2）→ 如实披露，作为工程边界而非隐藏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5724144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FFF8E8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751576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AgentTeams 版本演进（v1.2.0 刚发布）→ 抽象 MCP 契约层，编排层可替换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6071616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FFF8E8"/>
          </a:solidFill>
          <a:ln w="9525">
            <a:solidFill>
              <a:srgbClr val="E8E8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609904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LLM 成本与不可用 → 多供应商 fallback 链（deepseek→qwen→glm→doubao）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2026-08-01T13:31:29Z</dcterms:created>
  <dcterms:modified xsi:type="dcterms:W3CDTF">2026-08-01T13:31:29Z</dcterms:modified>
</cp:coreProperties>
</file>