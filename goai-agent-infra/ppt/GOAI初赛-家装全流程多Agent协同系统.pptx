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8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2743200"/>
            <a:ext cx="3657600" cy="3657600"/>
          </a:xfrm>
          <a:prstGeom prst="ellipse">
            <a:avLst/>
          </a:prstGeom>
          <a:solidFill>
            <a:srgbClr val="003166"/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5577840"/>
            <a:ext cx="2926080" cy="2926080"/>
          </a:xfrm>
          <a:prstGeom prst="ellipse">
            <a:avLst/>
          </a:prstGeom>
          <a:solidFill>
            <a:srgbClr val="00316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9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2026 · 赛道一 新智基座 | Agent Infra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家装全流程多 Agent 协同系统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26060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AgentTeams 编排与 MCP 工具链驱动家装项目从设计到结算的端到端自动化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" y="379476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003166"/>
          </a:solidFill>
          <a:ln w="12700">
            <a:solidFill>
              <a:srgbClr val="0062C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794760"/>
            <a:ext cx="64008" cy="123444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95020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 编排层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34340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Manager-Workers · Matrix 透明协作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89120" y="379476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003166"/>
          </a:solidFill>
          <a:ln w="12700">
            <a:solidFill>
              <a:srgbClr val="0062C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89120" y="3794760"/>
            <a:ext cx="64008" cy="1234440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4" name="Text 12"/>
          <p:cNvSpPr/>
          <p:nvPr/>
        </p:nvSpPr>
        <p:spPr>
          <a:xfrm>
            <a:off x="4617720" y="395020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能力层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617720" y="434340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ihome-mcp · 登录鉴权 · 失败处理 · 复用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955280" y="379476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003166"/>
          </a:solidFill>
          <a:ln w="12700">
            <a:solidFill>
              <a:srgbClr val="0062C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55280" y="3794760"/>
            <a:ext cx="64008" cy="123444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8" name="Text 16"/>
          <p:cNvSpPr/>
          <p:nvPr/>
        </p:nvSpPr>
        <p:spPr>
          <a:xfrm>
            <a:off x="8183880" y="3950208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工具连接层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183880" y="4343400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9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2026-07-28 规范 8 项 · 10 个工具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" y="5806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A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队伍：索克家居 · i-home.life ｜ 基于 AgentTeams（agentscope-ai/AgentTeams）与 i-home.life v1.3.1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61722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AD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· 初赛 V1.0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SCENE &amp; VALUE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场景与价值：家装复杂任务需要 Agent 团队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08760"/>
            <a:ext cx="5029200" cy="1115568"/>
          </a:xfrm>
          <a:prstGeom prst="roundRect">
            <a:avLst>
              <a:gd name="adj" fmla="val 491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508760"/>
            <a:ext cx="256032" cy="41148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618488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链条长 · 专业割裂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77240" y="1984248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设计/预算/采购/施工/质检五大环节分属不同专业，跨部门信息靠人传话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807208"/>
            <a:ext cx="5029200" cy="1115568"/>
          </a:xfrm>
          <a:prstGeom prst="roundRect">
            <a:avLst>
              <a:gd name="adj" fmla="val 491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807208"/>
            <a:ext cx="256032" cy="41148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916936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决策黑盒 · 结果难溯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7240" y="3282696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报价构成、方案依据、质量结论缺乏结构化证据，纠纷难举证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105656"/>
            <a:ext cx="5029200" cy="1115568"/>
          </a:xfrm>
          <a:prstGeom prst="roundRect">
            <a:avLst>
              <a:gd name="adj" fmla="val 491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4105656"/>
            <a:ext cx="256032" cy="41148"/>
          </a:xfrm>
          <a:prstGeom prst="rect">
            <a:avLst/>
          </a:prstGeom>
          <a:solidFill>
            <a:srgbClr val="FF3B30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215384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经验难规模化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77240" y="4581144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资深项目经理的诊断与排期经验沉淀在个人脑中，无法复制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0" y="1508760"/>
            <a:ext cx="5669280" cy="1115568"/>
          </a:xfrm>
          <a:prstGeom prst="roundRect">
            <a:avLst>
              <a:gd name="adj" fmla="val 4918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0" y="1508760"/>
            <a:ext cx="256032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2" name="Text 20"/>
          <p:cNvSpPr/>
          <p:nvPr/>
        </p:nvSpPr>
        <p:spPr>
          <a:xfrm>
            <a:off x="6172200" y="1618488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个职能 Agent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172200" y="1984248"/>
            <a:ext cx="5349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设计师 / 预算师 / 采购员 / 施工经理 / 质检员 端到端协同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943600" y="2807208"/>
            <a:ext cx="5669280" cy="1115568"/>
          </a:xfrm>
          <a:prstGeom prst="roundRect">
            <a:avLst>
              <a:gd name="adj" fmla="val 4918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807208"/>
            <a:ext cx="256032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6" name="Text 24"/>
          <p:cNvSpPr/>
          <p:nvPr/>
        </p:nvSpPr>
        <p:spPr>
          <a:xfrm>
            <a:off x="6172200" y="2916936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规范 8 项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172200" y="3282696"/>
            <a:ext cx="5349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2026-07-28 规范全实现，工具接入标准化、可迁移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943600" y="4105656"/>
            <a:ext cx="5669280" cy="1115568"/>
          </a:xfrm>
          <a:prstGeom prst="roundRect">
            <a:avLst>
              <a:gd name="adj" fmla="val 4918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4105656"/>
            <a:ext cx="256032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0" name="Text 28"/>
          <p:cNvSpPr/>
          <p:nvPr/>
        </p:nvSpPr>
        <p:spPr>
          <a:xfrm>
            <a:off x="6172200" y="4215384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全程可审计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172200" y="4581144"/>
            <a:ext cx="5349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Matrix 房间 + HMAC 审计签名 + 诚实数据来源标注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553212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001833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" y="566928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行业可复制性：设计→预算→采购→施工→质检是工程、公装、地产、物业共通的流程范式，Agent 团队可平移到任一垂直行业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系统架构：AgentTeams 编排 × Skill 能力 × MCP 工具三层解耦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0E0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91440" cy="457200"/>
          </a:xfrm>
          <a:prstGeom prst="rect">
            <a:avLst/>
          </a:prstGeom>
          <a:solidFill>
            <a:srgbClr val="6E6E73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536192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用户入口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977640" y="1536192"/>
            <a:ext cx="7178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Element Web（Matrix 客户端）/ Web 控制台 / 语音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1993392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F5F5F7"/>
          </a:solidFill>
          <a:ln w="12700">
            <a:solidFill>
              <a:srgbClr val="E0E0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1993392"/>
            <a:ext cx="91440" cy="65836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2066544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 编排层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977640" y="2167128"/>
            <a:ext cx="7178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Manager-Workers · 任务拆解 · 状态流转 · 路由与升级 · Matrix 透明房间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2724912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E0E0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724912"/>
            <a:ext cx="91440" cy="658368"/>
          </a:xfrm>
          <a:prstGeom prst="rect">
            <a:avLst/>
          </a:prstGeom>
          <a:solidFill>
            <a:srgbClr val="0062CC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2798064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 Agent 协同层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977640" y="2898648"/>
            <a:ext cx="7178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ihome-manager ｜ designer · budget · procurement · construction · qa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456432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F5F5F7"/>
          </a:solidFill>
          <a:ln w="12700">
            <a:solidFill>
              <a:srgbClr val="E0E0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3456432"/>
            <a:ext cx="91440" cy="658368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3529584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能力层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977640" y="3630168"/>
            <a:ext cx="7178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ihome-mcp：PASETO 登录 → tools/list → tools/call · Schema · 失败处理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187952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E0E0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4187952"/>
            <a:ext cx="91440" cy="658368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4261104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工具连接层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77640" y="4361688"/>
            <a:ext cx="7178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i-home.life MCP Server · 2026-07-28 规范 8 项 · 10 个家装工具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919472"/>
            <a:ext cx="11064240" cy="658368"/>
          </a:xfrm>
          <a:prstGeom prst="roundRect">
            <a:avLst>
              <a:gd name="adj" fmla="val 6944"/>
            </a:avLst>
          </a:prstGeom>
          <a:solidFill>
            <a:srgbClr val="F5F5F7"/>
          </a:solidFill>
          <a:ln w="12700">
            <a:solidFill>
              <a:srgbClr val="E0E0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4919472"/>
            <a:ext cx="91440" cy="658368"/>
          </a:xfrm>
          <a:prstGeom prst="rect">
            <a:avLst/>
          </a:prstGeom>
          <a:solidFill>
            <a:srgbClr val="6E6E73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4992624"/>
            <a:ext cx="3063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业务数据层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77640" y="5093208"/>
            <a:ext cx="7178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 / 预算 / 物料 / 施工 / 质检 · 50 ORM 模型 · 74+ API 路由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IDENTITY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 Agent 设计：1 个 Leader + 5 个职能 Worker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3566160" cy="2148840"/>
          </a:xfrm>
          <a:prstGeom prst="roundRect">
            <a:avLst>
              <a:gd name="adj" fmla="val 255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63040"/>
            <a:ext cx="3566160" cy="502920"/>
          </a:xfrm>
          <a:prstGeom prst="roundRect">
            <a:avLst/>
          </a:prstGeom>
          <a:solidFill>
            <a:srgbClr val="001833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527048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ihome-manager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212140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Team Leader 编排者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514600"/>
            <a:ext cx="3200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任务拆解 · 路由分派 · 进度监控 · 异常升级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70832" y="1463040"/>
            <a:ext cx="3566160" cy="2148840"/>
          </a:xfrm>
          <a:prstGeom prst="roundRect">
            <a:avLst>
              <a:gd name="adj" fmla="val 255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70832" y="1463040"/>
            <a:ext cx="3566160" cy="502920"/>
          </a:xfrm>
          <a:prstGeom prst="roundRect">
            <a:avLst/>
          </a:prstGeom>
          <a:solidFill>
            <a:srgbClr val="007AFF"/>
          </a:solidFill>
          <a:ln/>
        </p:spPr>
      </p:sp>
      <p:sp>
        <p:nvSpPr>
          <p:cNvPr id="15" name="Text 13"/>
          <p:cNvSpPr/>
          <p:nvPr/>
        </p:nvSpPr>
        <p:spPr>
          <a:xfrm>
            <a:off x="4370832" y="1527048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ihome-designer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53712" y="212140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方案设计专家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53712" y="2514600"/>
            <a:ext cx="3200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布局规划 · 设计提案生成/更新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93024" y="1463040"/>
            <a:ext cx="3566160" cy="2148840"/>
          </a:xfrm>
          <a:prstGeom prst="roundRect">
            <a:avLst>
              <a:gd name="adj" fmla="val 255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93024" y="1463040"/>
            <a:ext cx="3566160" cy="502920"/>
          </a:xfrm>
          <a:prstGeom prst="roundRect">
            <a:avLst/>
          </a:prstGeom>
          <a:solidFill>
            <a:srgbClr val="0062CC"/>
          </a:solidFill>
          <a:ln/>
        </p:spPr>
      </p:sp>
      <p:sp>
        <p:nvSpPr>
          <p:cNvPr id="20" name="Text 18"/>
          <p:cNvSpPr/>
          <p:nvPr/>
        </p:nvSpPr>
        <p:spPr>
          <a:xfrm>
            <a:off x="8193024" y="1527048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ihome-budget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75904" y="212140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预算成本专家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375904" y="2514600"/>
            <a:ext cx="3200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预算编制 · 成本分析 · 超支预警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3840480"/>
            <a:ext cx="3566160" cy="2148840"/>
          </a:xfrm>
          <a:prstGeom prst="roundRect">
            <a:avLst>
              <a:gd name="adj" fmla="val 255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840480"/>
            <a:ext cx="3566160" cy="502920"/>
          </a:xfrm>
          <a:prstGeom prst="roundRect">
            <a:avLst/>
          </a:prstGeom>
          <a:solidFill>
            <a:srgbClr val="5AC8FA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3904488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ihome-procurement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31520" y="449884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物料采购专家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31520" y="4892040"/>
            <a:ext cx="3200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物料搜索 · 比价分析 · 采购计划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370832" y="3840480"/>
            <a:ext cx="3566160" cy="2148840"/>
          </a:xfrm>
          <a:prstGeom prst="roundRect">
            <a:avLst>
              <a:gd name="adj" fmla="val 255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70832" y="3840480"/>
            <a:ext cx="3566160" cy="502920"/>
          </a:xfrm>
          <a:prstGeom prst="roundRect">
            <a:avLst/>
          </a:prstGeom>
          <a:solidFill>
            <a:srgbClr val="28A745"/>
          </a:solidFill>
          <a:ln/>
        </p:spPr>
      </p:sp>
      <p:sp>
        <p:nvSpPr>
          <p:cNvPr id="30" name="Text 28"/>
          <p:cNvSpPr/>
          <p:nvPr/>
        </p:nvSpPr>
        <p:spPr>
          <a:xfrm>
            <a:off x="4370832" y="3904488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ihome-construction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53712" y="449884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施工进度专家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553712" y="4892040"/>
            <a:ext cx="3200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进度跟踪 · 工期管理 · 工序协调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193024" y="3840480"/>
            <a:ext cx="3566160" cy="2148840"/>
          </a:xfrm>
          <a:prstGeom prst="roundRect">
            <a:avLst>
              <a:gd name="adj" fmla="val 255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93024" y="3840480"/>
            <a:ext cx="3566160" cy="502920"/>
          </a:xfrm>
          <a:prstGeom prst="roundRect">
            <a:avLst/>
          </a:prstGeom>
          <a:solidFill>
            <a:srgbClr val="FF9500"/>
          </a:solidFill>
          <a:ln/>
        </p:spPr>
      </p:sp>
      <p:sp>
        <p:nvSpPr>
          <p:cNvPr id="35" name="Text 33"/>
          <p:cNvSpPr/>
          <p:nvPr/>
        </p:nvSpPr>
        <p:spPr>
          <a:xfrm>
            <a:off x="8193024" y="3904488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ihome-qa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375904" y="449884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质量检测专家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8375904" y="4892040"/>
            <a:ext cx="3200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阶段质检 · 标准核验 · 缺陷识别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任务示例："120 平三居室装修" → Manager 拆解 → 设计提案 / 预算编制 / 物料清单 / 施工计划 / 质检计划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COLLABORATION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上下文传递与协同执行：映射 AgentTeams 原生能力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1600200" cy="3017520"/>
          </a:xfrm>
          <a:prstGeom prst="roundRect">
            <a:avLst>
              <a:gd name="adj" fmla="val 3429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6916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58368" y="23317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任务输入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8368" y="2743200"/>
            <a:ext cx="1389888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业主/公司以自然语言下达复杂任务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194560" y="2651760"/>
            <a:ext cx="146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350008" y="1554480"/>
            <a:ext cx="1600200" cy="3017520"/>
          </a:xfrm>
          <a:prstGeom prst="roundRect">
            <a:avLst>
              <a:gd name="adj" fmla="val 3429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59736" y="16916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459736" y="23317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任务拆解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459736" y="2743200"/>
            <a:ext cx="1389888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Manager 拆解为可执行子任务并按能力路由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995928" y="2651760"/>
            <a:ext cx="146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51376" y="1554480"/>
            <a:ext cx="1600200" cy="3017520"/>
          </a:xfrm>
          <a:prstGeom prst="roundRect">
            <a:avLst>
              <a:gd name="adj" fmla="val 3429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61104" y="16916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261104" y="23317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协同执行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261104" y="2743200"/>
            <a:ext cx="1389888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 在 Matrix 房间并行执行、汇报进度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797296" y="2651760"/>
            <a:ext cx="146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952744" y="1554480"/>
            <a:ext cx="1600200" cy="3017520"/>
          </a:xfrm>
          <a:prstGeom prst="roundRect">
            <a:avLst>
              <a:gd name="adj" fmla="val 3429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62472" y="16916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062472" y="23317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工具调用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062472" y="2743200"/>
            <a:ext cx="1389888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 经 ihome-mcp Skill 调 MCP 取真实数据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598664" y="2651760"/>
            <a:ext cx="146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754112" y="1554480"/>
            <a:ext cx="1600200" cy="3017520"/>
          </a:xfrm>
          <a:prstGeom prst="roundRect">
            <a:avLst>
              <a:gd name="adj" fmla="val 3429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63840" y="16916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7863840" y="23317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结果验证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7863840" y="2743200"/>
            <a:ext cx="1389888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Manager 汇总、校验，输出证据链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400032" y="2651760"/>
            <a:ext cx="1463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555480" y="1554480"/>
            <a:ext cx="1600200" cy="3017520"/>
          </a:xfrm>
          <a:prstGeom prst="roundRect">
            <a:avLst>
              <a:gd name="adj" fmla="val 3429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65208" y="16916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3B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9665208" y="23317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证据沉淀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9665208" y="2743200"/>
            <a:ext cx="1389888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全程留痕：房间消息 + 审计日志 + 数据来源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48640" y="4892040"/>
            <a:ext cx="3566160" cy="1051560"/>
          </a:xfrm>
          <a:prstGeom prst="roundRect">
            <a:avLst>
              <a:gd name="adj" fmla="val 5217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501091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Matrix 透明房间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31520" y="534924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人与 Agent 同房间，随时介入/纠正，全程可回放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370832" y="4892040"/>
            <a:ext cx="3566160" cy="1051560"/>
          </a:xfrm>
          <a:prstGeom prst="roundRect">
            <a:avLst>
              <a:gd name="adj" fmla="val 5217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53712" y="501091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MinIO 共享文件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53712" y="534924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中间产物走共享文件系统，避免 Token 爆炸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8193024" y="4892040"/>
            <a:ext cx="3566160" cy="1051560"/>
          </a:xfrm>
          <a:prstGeom prst="roundRect">
            <a:avLst>
              <a:gd name="adj" fmla="val 5217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375904" y="501091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Human-in-the-Loop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375904" y="534924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高风险动作人工确认，安全边界内置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ENGINEERING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 工程化：ihome-mcp 能力抽象层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463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ihome-mcp（核心 Skill，5 Worker 复用）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97510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011680" y="1975104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 Skill — 外部系统集成能力封装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432304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487168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011680" y="2487168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 / call &lt;tool&gt; &lt;JSON 参数&gt;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944368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99923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011680" y="2999232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JSON-RPC 响应（含 source 数据来源标注）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456432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3511296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调用条件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2011680" y="3511296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 需项目设计/预算/物料/施工/质检数据时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968496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023360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011680" y="4023360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i-home.life MCP Server（2026-07-28 规范）+ PASETO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4480560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535424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失败处理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011680" y="4535424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登录/调用失败返回 error JSON，如实说明不编造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992624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5047488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011680" y="5047488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凭据 .env 600 权限；只读为主；红线拒绝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5504688"/>
            <a:ext cx="5486400" cy="420624"/>
          </a:xfrm>
          <a:prstGeom prst="roundRect">
            <a:avLst>
              <a:gd name="adj" fmla="val 13043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5559552"/>
            <a:ext cx="1280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复用价值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2011680" y="5559552"/>
            <a:ext cx="3931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Worker 复用；可沉淀为分发 Skill 包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400800" y="14630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工具能力矩阵（10 个）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00800" y="1920240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get_design_layout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9098280" y="192024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设计方案布局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0607040" y="1938528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2FF"/>
          </a:solidFill>
          <a:ln/>
        </p:spPr>
      </p:sp>
      <p:sp>
        <p:nvSpPr>
          <p:cNvPr id="37" name="Text 35"/>
          <p:cNvSpPr/>
          <p:nvPr/>
        </p:nvSpPr>
        <p:spPr>
          <a:xfrm>
            <a:off x="10607040" y="19659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2304288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generate_design_proposals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098280" y="2304288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生成设计方案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0607040" y="2322576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2FF"/>
          </a:solidFill>
          <a:ln/>
        </p:spPr>
      </p:sp>
      <p:sp>
        <p:nvSpPr>
          <p:cNvPr id="41" name="Text 39"/>
          <p:cNvSpPr/>
          <p:nvPr/>
        </p:nvSpPr>
        <p:spPr>
          <a:xfrm>
            <a:off x="10607040" y="2350008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400800" y="2688336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update_design_proposal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9098280" y="2688336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更新设计提案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10607040" y="2706624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2FF"/>
          </a:solidFill>
          <a:ln/>
        </p:spPr>
      </p:sp>
      <p:sp>
        <p:nvSpPr>
          <p:cNvPr id="45" name="Text 43"/>
          <p:cNvSpPr/>
          <p:nvPr/>
        </p:nvSpPr>
        <p:spPr>
          <a:xfrm>
            <a:off x="10607040" y="2734056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400800" y="3072384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get_budget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9098280" y="3072384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项目预算查询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10607040" y="3090672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D9E9FF"/>
          </a:solidFill>
          <a:ln/>
        </p:spPr>
      </p:sp>
      <p:sp>
        <p:nvSpPr>
          <p:cNvPr id="49" name="Text 47"/>
          <p:cNvSpPr/>
          <p:nvPr/>
        </p:nvSpPr>
        <p:spPr>
          <a:xfrm>
            <a:off x="10607040" y="3118104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budget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400800" y="3456432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search_materials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9098280" y="3456432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装修物料搜索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10607040" y="3474720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5FC"/>
          </a:solidFill>
          <a:ln/>
        </p:spPr>
      </p:sp>
      <p:sp>
        <p:nvSpPr>
          <p:cNvPr id="53" name="Text 51"/>
          <p:cNvSpPr/>
          <p:nvPr/>
        </p:nvSpPr>
        <p:spPr>
          <a:xfrm>
            <a:off x="10607040" y="3502152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C8F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procurement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400800" y="3840480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get_construction_progress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9098280" y="384048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施工进度查询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10607040" y="3858768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E8F8EE"/>
          </a:solidFill>
          <a:ln/>
        </p:spPr>
      </p:sp>
      <p:sp>
        <p:nvSpPr>
          <p:cNvPr id="57" name="Text 55"/>
          <p:cNvSpPr/>
          <p:nvPr/>
        </p:nvSpPr>
        <p:spPr>
          <a:xfrm>
            <a:off x="10607040" y="388620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construction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400800" y="4224528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run_qa_inspection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9098280" y="4224528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质量检测执行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10607040" y="4242816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FF8E8"/>
          </a:solidFill>
          <a:ln/>
        </p:spPr>
      </p:sp>
      <p:sp>
        <p:nvSpPr>
          <p:cNvPr id="61" name="Text 59"/>
          <p:cNvSpPr/>
          <p:nvPr/>
        </p:nvSpPr>
        <p:spPr>
          <a:xfrm>
            <a:off x="10607040" y="4270248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5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qa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400800" y="4608576"/>
            <a:ext cx="26517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1D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launch_agent_task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9098280" y="4608576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启动平台 Agent 任务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10607040" y="4626864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F0F0F2"/>
          </a:solidFill>
          <a:ln/>
        </p:spPr>
      </p:sp>
      <p:sp>
        <p:nvSpPr>
          <p:cNvPr id="65" name="Text 63"/>
          <p:cNvSpPr/>
          <p:nvPr/>
        </p:nvSpPr>
        <p:spPr>
          <a:xfrm>
            <a:off x="10607040" y="4654296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orchestration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INTEGRATION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工具连接层：2026-07-28 规范 8 项全实现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08760"/>
            <a:ext cx="2651760" cy="1463040"/>
          </a:xfrm>
          <a:prstGeom prst="roundRect">
            <a:avLst>
              <a:gd name="adj" fmla="val 3750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636776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stateless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13232" y="2039112"/>
            <a:ext cx="2359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无会话握手，请求自描述可横向扩展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83280" y="1508760"/>
            <a:ext cx="2651760" cy="1463040"/>
          </a:xfrm>
          <a:prstGeom prst="roundRect">
            <a:avLst>
              <a:gd name="adj" fmla="val 3750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7872" y="1636776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server/discover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47872" y="2039112"/>
            <a:ext cx="2359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能力发现 RPC，统一接入入口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17920" y="1508760"/>
            <a:ext cx="2651760" cy="1463040"/>
          </a:xfrm>
          <a:prstGeom prst="roundRect">
            <a:avLst>
              <a:gd name="adj" fmla="val 3750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82512" y="1636776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header-routing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82512" y="2039112"/>
            <a:ext cx="2359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Mcp-Method / Mcp-Name 头路由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52560" y="1508760"/>
            <a:ext cx="2651760" cy="1463040"/>
          </a:xfrm>
          <a:prstGeom prst="roundRect">
            <a:avLst>
              <a:gd name="adj" fmla="val 3750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17152" y="1636776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cacheable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217152" y="2039112"/>
            <a:ext cx="2359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tools/list ETag/304 缓存语义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200400"/>
            <a:ext cx="2651760" cy="1463040"/>
          </a:xfrm>
          <a:prstGeom prst="roundRect">
            <a:avLst>
              <a:gd name="adj" fmla="val 3750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3328416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MRTR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3232" y="3730752"/>
            <a:ext cx="2359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多轮往返协作，采样/追问回传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383280" y="3200400"/>
            <a:ext cx="2651760" cy="1463040"/>
          </a:xfrm>
          <a:prstGeom prst="roundRect">
            <a:avLst>
              <a:gd name="adj" fmla="val 3750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47872" y="3328416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RFC 9207 + CIMD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547872" y="3730752"/>
            <a:ext cx="2359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授权硬化，替代 DCR 注册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17920" y="3200400"/>
            <a:ext cx="2651760" cy="1463040"/>
          </a:xfrm>
          <a:prstGeom prst="roundRect">
            <a:avLst>
              <a:gd name="adj" fmla="val 3750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82512" y="3328416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Tasks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382512" y="3730752"/>
            <a:ext cx="2359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tasks/* 扩展，任务生命周期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052560" y="3200400"/>
            <a:ext cx="2651760" cy="1463040"/>
          </a:xfrm>
          <a:prstGeom prst="roundRect">
            <a:avLst>
              <a:gd name="adj" fmla="val 3750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217152" y="3328416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Server Card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217152" y="3730752"/>
            <a:ext cx="2359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.well-known/mcp 标准化发现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 调用链路：ihome-mcp Skill → POST /api/mcp（JSON-RPC 2.0 + Bearer PASETO）→ tools/call → 真实业务数据（source 透明标注）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OBSERVABILITY &amp; EVAL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可观测三支柱 + 领域评估体系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08760"/>
            <a:ext cx="3566160" cy="1737360"/>
          </a:xfrm>
          <a:prstGeom prst="roundRect">
            <a:avLst>
              <a:gd name="adj" fmla="val 315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508760"/>
            <a:ext cx="3566160" cy="82296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Trace 链路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10312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OTel 追踪 + AgentHarness 执行轨迹（状态/Token/工具调用链/降级信息）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70832" y="1508760"/>
            <a:ext cx="3566160" cy="1737360"/>
          </a:xfrm>
          <a:prstGeom prst="roundRect">
            <a:avLst>
              <a:gd name="adj" fmla="val 315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70832" y="1508760"/>
            <a:ext cx="3566160" cy="82296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4" name="Text 12"/>
          <p:cNvSpPr/>
          <p:nvPr/>
        </p:nvSpPr>
        <p:spPr>
          <a:xfrm>
            <a:off x="4553712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 日志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53712" y="210312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structlog 结构化 JSON，PII 脱敏 + trace_id 关联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93024" y="1508760"/>
            <a:ext cx="3566160" cy="1737360"/>
          </a:xfrm>
          <a:prstGeom prst="roundRect">
            <a:avLst>
              <a:gd name="adj" fmla="val 315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93024" y="1508760"/>
            <a:ext cx="3566160" cy="82296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8" name="Text 16"/>
          <p:cNvSpPr/>
          <p:nvPr/>
        </p:nvSpPr>
        <p:spPr>
          <a:xfrm>
            <a:off x="8375904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Metrics 指标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75904" y="210312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Prometheus：请求/LLM 调用/DB 查询/缓存命中率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3520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IHomeEval 领域评估（10 维度）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8640" y="39776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0325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报价准确性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798064" y="39776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98064" y="40325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设计安全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47488" y="39776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47488" y="40325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材料禁忌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296912" y="39776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40325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越权防护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546336" y="397764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546336" y="403250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流式延迟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52628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58114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降级率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798064" y="452628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98064" y="458114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工具调用准确率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047488" y="452628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47488" y="458114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思维链泄漏率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296912" y="452628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96912" y="458114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HC 合规率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546336" y="4526280"/>
            <a:ext cx="2103120" cy="420624"/>
          </a:xfrm>
          <a:prstGeom prst="roundRect">
            <a:avLst>
              <a:gd name="adj" fmla="val 13043"/>
            </a:avLst>
          </a:prstGeom>
          <a:solidFill>
            <a:srgbClr val="E8F8EE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546336" y="4581144"/>
            <a:ext cx="2103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A74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反面论证质量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诚实降级原则：数据来源 db / estimated_fallback / sample_fallback 透明标注，禁止伪装真实能力（历史教训：修复 6 处硬编码假数据）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SECURITY &amp; AUDIT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安全边界：可运行、可验证、可审计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627632"/>
            <a:ext cx="384048" cy="384048"/>
          </a:xfrm>
          <a:prstGeom prst="ellipse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64592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160934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PASETO v4.local 鉴权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80160" y="201168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 JWT；密钥 ≥32 字节硬校验；Worker 仅持消费令牌，真实凭证由 Higress 网关托管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72200" y="146304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55080" y="1627632"/>
            <a:ext cx="384048" cy="384048"/>
          </a:xfrm>
          <a:prstGeom prst="ellipse">
            <a:avLst/>
          </a:prstGeom>
          <a:solidFill>
            <a:srgbClr val="5AC8FA"/>
          </a:solidFill>
          <a:ln/>
        </p:spPr>
      </p:sp>
      <p:sp>
        <p:nvSpPr>
          <p:cNvPr id="15" name="Text 13"/>
          <p:cNvSpPr/>
          <p:nvPr/>
        </p:nvSpPr>
        <p:spPr>
          <a:xfrm>
            <a:off x="6355080" y="164592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903720" y="160934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HMAC 审计防篡改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903720" y="201168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audit_log 写入自动签名（SHA256 + 密钥版本化），批量完整性校验，PII 脱敏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182112"/>
            <a:ext cx="384048" cy="384048"/>
          </a:xfrm>
          <a:prstGeom prst="ellipse">
            <a:avLst/>
          </a:prstGeom>
          <a:solidFill>
            <a:srgbClr val="28A745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2004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280160" y="316382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缓存用户隔离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80160" y="356616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私有数据 cache key 强制含 user_id，未传直接 raise（cache_user_isolation_strict）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72200" y="301752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55080" y="3182112"/>
            <a:ext cx="384048" cy="384048"/>
          </a:xfrm>
          <a:prstGeom prst="ellipse">
            <a:avLst/>
          </a:prstGeom>
          <a:solidFill>
            <a:srgbClr val="FF9500"/>
          </a:solidFill>
          <a:ln/>
        </p:spPr>
      </p:sp>
      <p:sp>
        <p:nvSpPr>
          <p:cNvPr id="25" name="Text 23"/>
          <p:cNvSpPr/>
          <p:nvPr/>
        </p:nvSpPr>
        <p:spPr>
          <a:xfrm>
            <a:off x="6355080" y="32004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903720" y="316382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审批与回滚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903720" y="356616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变更单状态机审批；高风险动作人工确认；DB 备份回滚 + feature-flag 回退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57200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1520" y="4736592"/>
            <a:ext cx="384048" cy="384048"/>
          </a:xfrm>
          <a:prstGeom prst="ellipse">
            <a:avLst/>
          </a:prstGeom>
          <a:solidFill>
            <a:srgbClr val="FF3B30"/>
          </a:solidFill>
          <a:ln/>
        </p:spPr>
      </p:sp>
      <p:sp>
        <p:nvSpPr>
          <p:cNvPr id="30" name="Text 28"/>
          <p:cNvSpPr/>
          <p:nvPr/>
        </p:nvSpPr>
        <p:spPr>
          <a:xfrm>
            <a:off x="731520" y="475488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280160" y="471830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HC 硬约束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80160" y="512064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承重墙 / 报价含税 / 环保等级 / 工期缓冲 / 水电 / 逃生通道 / 燃气安全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172200" y="457200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55080" y="4736592"/>
            <a:ext cx="384048" cy="384048"/>
          </a:xfrm>
          <a:prstGeom prst="ellipse">
            <a:avLst/>
          </a:prstGeom>
          <a:solidFill>
            <a:srgbClr val="001833"/>
          </a:solidFill>
          <a:ln/>
        </p:spPr>
      </p:sp>
      <p:sp>
        <p:nvSpPr>
          <p:cNvPr id="35" name="Text 33"/>
          <p:cNvSpPr/>
          <p:nvPr/>
        </p:nvSpPr>
        <p:spPr>
          <a:xfrm>
            <a:off x="6355080" y="475488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903720" y="4718304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RBAC 权限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903720" y="5120640"/>
            <a:ext cx="4526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角色-权限表 + 项目归属校验（IDOR 防护），跨项目访问 403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RUNNING 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运行验证：线上部署已实测打通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463040"/>
            <a:ext cx="5394960" cy="2148840"/>
          </a:xfrm>
          <a:prstGeom prst="roundRect">
            <a:avLst>
              <a:gd name="adj" fmla="val 2553"/>
            </a:avLst>
          </a:prstGeom>
          <a:solidFill>
            <a:srgbClr val="001833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部署环境（已在线）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2057400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AgentTeams v1.2.0（controller / manager / dashboard / Element Web）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" y="2441448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i-home.life v1.3.1（FastAPI · 118.31.223.213:8081）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" y="2825496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家装团队 ihome-team：1 Leader + 5 Worker 全部 Running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C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演示数据：120 平三居 · 预算 ¥157,250 · 4 施工任务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463040"/>
            <a:ext cx="5394960" cy="2148840"/>
          </a:xfrm>
          <a:prstGeom prst="roundRect">
            <a:avLst>
              <a:gd name="adj" fmla="val 2553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46520" y="162763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实测调用链路（已验证）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46520" y="2057400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ihome-budget → get_budget → 三档预算 + source 标注 ✅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46520" y="2441448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ihome-construction → get_construction_progress → 8 阶段进度 ✅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46520" y="2825496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ihome-procurement → search_materials → 物料列表 ✅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46520" y="3209544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tools/list → 10 个家装工具可发现 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37947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演示流程：业主在 Element Web 下达任务 → Manager 拆解 → 5 Worker 并行经 MCP 取数 → 汇总装修全案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输入任务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34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34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6" name="Text 24"/>
          <p:cNvSpPr/>
          <p:nvPr/>
        </p:nvSpPr>
        <p:spPr>
          <a:xfrm>
            <a:off x="2834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Manager 拆解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120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120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Worker 执行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406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06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2" name="Text 30"/>
          <p:cNvSpPr/>
          <p:nvPr/>
        </p:nvSpPr>
        <p:spPr>
          <a:xfrm>
            <a:off x="7406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MCP 取数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692640" y="4389120"/>
            <a:ext cx="2103120" cy="13716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92640" y="4389120"/>
            <a:ext cx="2103120" cy="41148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5" name="Text 33"/>
          <p:cNvSpPr/>
          <p:nvPr/>
        </p:nvSpPr>
        <p:spPr>
          <a:xfrm>
            <a:off x="9692640" y="480060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汇总验证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SOURCE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开放/开源计划：可复用、可验证、可迁移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08760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508760"/>
            <a:ext cx="91440" cy="146304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67335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Worker 模板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210312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SOUL.md + Agent Identity 清单，任何垂直行业可复制建团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200" y="1508760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0" y="1508760"/>
            <a:ext cx="91440" cy="1463040"/>
          </a:xfrm>
          <a:prstGeom prst="rect">
            <a:avLst/>
          </a:prstGeom>
          <a:solidFill>
            <a:srgbClr val="5AC8FA"/>
          </a:solidFill>
          <a:ln/>
        </p:spPr>
      </p:sp>
      <p:sp>
        <p:nvSpPr>
          <p:cNvPr id="14" name="Text 12"/>
          <p:cNvSpPr/>
          <p:nvPr/>
        </p:nvSpPr>
        <p:spPr>
          <a:xfrm>
            <a:off x="6446520" y="167335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ihome-mcp Skill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46520" y="210312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标准化工具调用封装（登录/调用/失败处理），可分发复用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200400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200400"/>
            <a:ext cx="91440" cy="1463040"/>
          </a:xfrm>
          <a:prstGeom prst="rect">
            <a:avLst/>
          </a:prstGeom>
          <a:solidFill>
            <a:srgbClr val="28A745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36499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适配层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22960" y="37947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2026-07-28 规范实现，可作为 MCP Server 接入参考实现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3200400"/>
            <a:ext cx="5394960" cy="1463040"/>
          </a:xfrm>
          <a:prstGeom prst="roundRect">
            <a:avLst>
              <a:gd name="adj" fmla="val 3750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72200" y="3200400"/>
            <a:ext cx="91440" cy="1463040"/>
          </a:xfrm>
          <a:prstGeom prst="rect">
            <a:avLst/>
          </a:prstGeom>
          <a:solidFill>
            <a:srgbClr val="FF9500"/>
          </a:solidFill>
          <a:ln/>
        </p:spPr>
      </p:sp>
      <p:sp>
        <p:nvSpPr>
          <p:cNvPr id="22" name="Text 20"/>
          <p:cNvSpPr/>
          <p:nvPr/>
        </p:nvSpPr>
        <p:spPr>
          <a:xfrm>
            <a:off x="6446520" y="336499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演示数据集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46520" y="37947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家装场景样例输入输出 + 评测基线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120640"/>
            <a:ext cx="11064240" cy="1097280"/>
          </a:xfrm>
          <a:prstGeom prst="roundRect">
            <a:avLst>
              <a:gd name="adj" fmla="val 5000"/>
            </a:avLst>
          </a:prstGeom>
          <a:solidFill>
            <a:srgbClr val="E8F2FF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257800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62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仓库：github.com/SUOKE2024/i-home.life（已公开）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7240" y="562356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协议 Apache-2.0（与 AgentTeams 兼容）｜ 披露：LLM 商业 API（deepseek/qwen/glm/doubao）· 第三方依赖 · 数据授权边界 ｜ 已有项目基础：i-home.life（24 Agent / 80+ Service）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2296" cy="502920"/>
          </a:xfrm>
          <a:prstGeom prst="rect">
            <a:avLst/>
          </a:prstGeom>
          <a:solidFill>
            <a:srgbClr val="007AFF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7A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 &amp; RISKS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49808" y="6400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落地计划与风险应对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1234440"/>
            <a:ext cx="11094415" cy="0"/>
          </a:xfrm>
          <a:prstGeom prst="line">
            <a:avLst/>
          </a:prstGeom>
          <a:noFill/>
          <a:ln w="12700">
            <a:solidFill>
              <a:srgbClr val="E0E0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GOAI 赛道一 · Agent Infra ｜ 家装全流程多 Agent 协同系统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08760"/>
            <a:ext cx="3566160" cy="3017520"/>
          </a:xfrm>
          <a:prstGeom prst="roundRect">
            <a:avLst>
              <a:gd name="adj" fmla="val 181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508760"/>
            <a:ext cx="3566160" cy="566928"/>
          </a:xfrm>
          <a:prstGeom prst="roundRect">
            <a:avLst/>
          </a:prstGeom>
          <a:solidFill>
            <a:srgbClr val="28A74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6002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初赛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22860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+ 链路验证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2697480"/>
            <a:ext cx="3246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AgentTeams 部署、5 Worker 建团、MCP 调用链路、演示数据 ✅ 已完成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70832" y="1508760"/>
            <a:ext cx="3566160" cy="3017520"/>
          </a:xfrm>
          <a:prstGeom prst="roundRect">
            <a:avLst>
              <a:gd name="adj" fmla="val 181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70832" y="1508760"/>
            <a:ext cx="3566160" cy="566928"/>
          </a:xfrm>
          <a:prstGeom prst="roundRect">
            <a:avLst/>
          </a:prstGeom>
          <a:solidFill>
            <a:srgbClr val="007AFF"/>
          </a:solidFill>
          <a:ln/>
        </p:spPr>
      </p:sp>
      <p:sp>
        <p:nvSpPr>
          <p:cNvPr id="15" name="Text 13"/>
          <p:cNvSpPr/>
          <p:nvPr/>
        </p:nvSpPr>
        <p:spPr>
          <a:xfrm>
            <a:off x="4370832" y="16002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V1.5 复赛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553712" y="22860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完整闭环 Demo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53712" y="2697480"/>
            <a:ext cx="3246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Element Web 全流程演示、评估数据集、Trace 看板、安全执行白名单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93024" y="1508760"/>
            <a:ext cx="3566160" cy="3017520"/>
          </a:xfrm>
          <a:prstGeom prst="roundRect">
            <a:avLst>
              <a:gd name="adj" fmla="val 1818"/>
            </a:avLst>
          </a:prstGeom>
          <a:solidFill>
            <a:srgbClr val="F5F5F7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93024" y="1508760"/>
            <a:ext cx="3566160" cy="566928"/>
          </a:xfrm>
          <a:prstGeom prst="roundRect">
            <a:avLst/>
          </a:prstGeom>
          <a:solidFill>
            <a:srgbClr val="FF9500"/>
          </a:solidFill>
          <a:ln/>
        </p:spPr>
      </p:sp>
      <p:sp>
        <p:nvSpPr>
          <p:cNvPr id="20" name="Text 18"/>
          <p:cNvSpPr/>
          <p:nvPr/>
        </p:nvSpPr>
        <p:spPr>
          <a:xfrm>
            <a:off x="8193024" y="16002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决赛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375904" y="22860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真实项目试点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75904" y="2697480"/>
            <a:ext cx="3246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接入真实家装项目、LLM-as-Judge 评测、开源工程化、行业复制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4800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8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风险与应对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48640" y="5212080"/>
            <a:ext cx="11064240" cy="347472"/>
          </a:xfrm>
          <a:prstGeom prst="roundRect">
            <a:avLst>
              <a:gd name="adj" fmla="val 15789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248656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AgentTeams 版本演进（v1.2.0 刚发布）→ 抽象 MCP 契约层，编排层可替换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5632704"/>
            <a:ext cx="11064240" cy="347472"/>
          </a:xfrm>
          <a:prstGeom prst="roundRect">
            <a:avLst>
              <a:gd name="adj" fmla="val 15789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566928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LLM 成本与不可用 → 多供应商 fallback 链（deepseek→qwen→glm→doubao）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6053328"/>
            <a:ext cx="11064240" cy="347472"/>
          </a:xfrm>
          <a:prstGeom prst="roundRect">
            <a:avLst>
              <a:gd name="adj" fmla="val 15789"/>
            </a:avLst>
          </a:prstGeom>
          <a:solidFill>
            <a:srgbClr val="FFF8E8"/>
          </a:solidFill>
          <a:ln w="9525">
            <a:solidFill>
              <a:srgbClr val="E8E8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6089904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D1D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 数据授权边界 → 演示数据自建，业务数据脱敏 + 授权披露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2026-08-01T12:46:12Z</dcterms:created>
  <dcterms:modified xsi:type="dcterms:W3CDTF">2026-08-01T12:46:12Z</dcterms:modified>
</cp:coreProperties>
</file>