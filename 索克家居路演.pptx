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OK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91695" cy="10973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54864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SUOKE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驱动的全链路</a:t>
            </a:r>
            <a:endParaRPr lang="en-US" sz="5000" dirty="0"/>
          </a:p>
        </p:txBody>
      </p:sp>
      <p:sp>
        <p:nvSpPr>
          <p:cNvPr id="6" name="Text 2"/>
          <p:cNvSpPr/>
          <p:nvPr/>
        </p:nvSpPr>
        <p:spPr>
          <a:xfrm>
            <a:off x="640080" y="2971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智能家居建造平台</a:t>
            </a:r>
            <a:endParaRPr lang="en-US" sz="5600" dirty="0"/>
          </a:p>
        </p:txBody>
      </p:sp>
      <p:sp>
        <p:nvSpPr>
          <p:cNvPr id="7" name="Text 3"/>
          <p:cNvSpPr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99C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  →  预算  →  选材  →  采购  →  施工  →  结算  →  验收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让每一个人都能轻松建造理想的家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5440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v1.1.7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640080" y="5943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834640" y="5440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670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2834640" y="5943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测试通过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88920" y="5486400"/>
            <a:ext cx="0" cy="457200"/>
          </a:xfrm>
          <a:prstGeom prst="line">
            <a:avLst/>
          </a:prstGeom>
          <a:noFill/>
          <a:ln w="12700">
            <a:solidFill>
              <a:srgbClr val="00316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0" y="5440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5029200" y="5943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83480" y="5486400"/>
            <a:ext cx="0" cy="457200"/>
          </a:xfrm>
          <a:prstGeom prst="line">
            <a:avLst/>
          </a:prstGeom>
          <a:noFill/>
          <a:ln w="12700">
            <a:solidFill>
              <a:srgbClr val="00316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23760" y="5440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460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7223760" y="5943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端点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178040" y="5486400"/>
            <a:ext cx="0" cy="457200"/>
          </a:xfrm>
          <a:prstGeom prst="line">
            <a:avLst/>
          </a:prstGeom>
          <a:noFill/>
          <a:ln w="12700">
            <a:solidFill>
              <a:srgbClr val="00316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418320" y="5440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9418320" y="5943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端架构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372600" y="5486400"/>
            <a:ext cx="0" cy="457200"/>
          </a:xfrm>
          <a:prstGeom prst="line">
            <a:avLst/>
          </a:prstGeom>
          <a:noFill/>
          <a:ln w="12700">
            <a:solidFill>
              <a:srgbClr val="00316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INDUSTRY  ·  行业现状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传统家装模式面临的核心痛点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中国家装市场规模 3.5 万亿 · 年均增速 7.2% · 数字化渗透率不足 10%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1920240"/>
            <a:ext cx="3611880" cy="310896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9428" y="1920240"/>
            <a:ext cx="3611880" cy="91440"/>
          </a:xfrm>
          <a:prstGeom prst="rect">
            <a:avLst>
              <a:gd name="adj" fmla="val 100000"/>
            </a:avLst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468" y="2331720"/>
            <a:ext cx="86868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468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信息不透明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9468" y="3794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报价虚高、材料以次充好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业主难以核对真实成本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89908" y="1920240"/>
            <a:ext cx="3611880" cy="310896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9908" y="1920240"/>
            <a:ext cx="3611880" cy="91440"/>
          </a:xfrm>
          <a:prstGeom prst="rect">
            <a:avLst>
              <a:gd name="adj" fmla="val 10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9948" y="2331720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948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流程割裂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609948" y="3794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设计、采购、施工数据各成孤岛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变更传递滞后导致返工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0388" y="1920240"/>
            <a:ext cx="3611880" cy="310896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0388" y="1920240"/>
            <a:ext cx="3611880" cy="91440"/>
          </a:xfrm>
          <a:prstGeom prst="rect">
            <a:avLst>
              <a:gd name="adj" fmla="val 100000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0428" y="2331720"/>
            <a:ext cx="868680" cy="8686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0428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沟通成本高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450428" y="3794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多方协调耗时费力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监理不到位导致质量失控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5440680"/>
            <a:ext cx="11274552" cy="777240"/>
          </a:xfrm>
          <a:prstGeom prst="rect">
            <a:avLst>
              <a:gd name="adj" fmla="val 9412"/>
            </a:avLst>
          </a:prstGeom>
          <a:solidFill>
            <a:srgbClr val="001833"/>
          </a:solidFill>
          <a:ln w="12700">
            <a:solidFill>
              <a:srgbClr val="0018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万亿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40080" y="5897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中国家装市场规模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38328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7.2%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3383280" y="5897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年均复合增长率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2648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10%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6126480" y="5897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数字化渗透率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869680" y="5532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8869680" y="5897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首次装修占比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SOLUTION  ·  解决方案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索克家居方案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 集群 × 多端协同 × 全链路覆盖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148" y="1783080"/>
            <a:ext cx="26974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5148" y="3099816"/>
            <a:ext cx="2697480" cy="54864"/>
          </a:xfrm>
          <a:prstGeom prst="rect">
            <a:avLst>
              <a:gd name="adj" fmla="val 100000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148" y="19202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95148" y="2743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29788" y="1783080"/>
            <a:ext cx="26974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29788" y="3099816"/>
            <a:ext cx="2697480" cy="54864"/>
          </a:xfrm>
          <a:prstGeom prst="rect">
            <a:avLst>
              <a:gd name="adj" fmla="val 10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9788" y="19202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329788" y="2743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模块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4428" y="1783080"/>
            <a:ext cx="26974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4428" y="3099816"/>
            <a:ext cx="2697480" cy="54864"/>
          </a:xfrm>
          <a:prstGeom prst="rect">
            <a:avLst>
              <a:gd name="adj" fmla="val 100000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19202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164428" y="2743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端架构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9068" y="1783080"/>
            <a:ext cx="26974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99068" y="3099816"/>
            <a:ext cx="2697480" cy="54864"/>
          </a:xfrm>
          <a:prstGeom prst="rect">
            <a:avLst>
              <a:gd name="adj" fmla="val 100000"/>
            </a:avLst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9068" y="19202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670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999068" y="27432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自动化测试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一站式 AI 智能家居建造平台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95148" y="3886200"/>
            <a:ext cx="269748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748" y="4160520"/>
            <a:ext cx="640080" cy="640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55268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自主运营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455268" y="4526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个 Agent 7×24 自主运营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329788" y="3886200"/>
            <a:ext cx="269748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8388" y="4160520"/>
            <a:ext cx="640080" cy="6400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289908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统一数据底座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4289908" y="4526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PostgreSQL + Redis + 向量库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164428" y="3886200"/>
            <a:ext cx="269748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3028" y="4160520"/>
            <a:ext cx="640080" cy="6400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124548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多模态交互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7124548" y="4526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语音 / 拍照 / AR / CAD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999068" y="3886200"/>
            <a:ext cx="269748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27668" y="4160520"/>
            <a:ext cx="640080" cy="6400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959188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全链路覆盖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9959188" y="4526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测量→设计→采购→施工→结算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 ·  AI 集群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 集群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个专业 AI Agent · 7×24 小时自主运营家装全流程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5712" y="178308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5712" y="1783080"/>
            <a:ext cx="2212848" cy="73152"/>
          </a:xfrm>
          <a:prstGeom prst="rect">
            <a:avLst>
              <a:gd name="adj" fmla="val 100000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8592" y="20116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0112" y="205740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总控 Agent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50112" y="235000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8592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意图路由 · 任务编排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12568" y="178308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12568" y="1783080"/>
            <a:ext cx="2212848" cy="73152"/>
          </a:xfrm>
          <a:prstGeom prst="rect">
            <a:avLst>
              <a:gd name="adj" fmla="val 10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5448" y="20116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26968" y="205740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 Agent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26968" y="235000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Designer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895448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9套布局 · 动线分析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989424" y="178308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89424" y="1783080"/>
            <a:ext cx="2212848" cy="73152"/>
          </a:xfrm>
          <a:prstGeom prst="rect">
            <a:avLst>
              <a:gd name="adj" fmla="val 100000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2304" y="201168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03824" y="205740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 Agent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903824" y="235000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Budget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172304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多方比价 · 偏差预警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266280" y="178308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66280" y="1783080"/>
            <a:ext cx="2212848" cy="73152"/>
          </a:xfrm>
          <a:prstGeom prst="rect">
            <a:avLst>
              <a:gd name="adj" fmla="val 100000"/>
            </a:avLst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9160" y="201168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80680" y="205740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 Agent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180680" y="235000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Procurement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449160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比价报告 · 供应商匹配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543136" y="178308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543136" y="1783080"/>
            <a:ext cx="2212848" cy="73152"/>
          </a:xfrm>
          <a:prstGeom prst="rect">
            <a:avLst>
              <a:gd name="adj" fmla="val 100000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6016" y="2011680"/>
            <a:ext cx="640080" cy="6400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457536" y="205740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施工 Agent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0457536" y="235000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Construction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9726016" y="28346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Gantt · AI 图像质检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435712" y="370332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35712" y="3703320"/>
            <a:ext cx="2212848" cy="73152"/>
          </a:xfrm>
          <a:prstGeom prst="rect">
            <a:avLst>
              <a:gd name="adj" fmla="val 100000"/>
            </a:avLst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592" y="3931920"/>
            <a:ext cx="640080" cy="6400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350112" y="397764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质检 Agent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1350112" y="427024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QAInspector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618592" y="47548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验收报告 · 缺陷识别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2712568" y="370332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2712568" y="3703320"/>
            <a:ext cx="2212848" cy="73152"/>
          </a:xfrm>
          <a:prstGeom prst="rect">
            <a:avLst>
              <a:gd name="adj" fmla="val 100000"/>
            </a:avLst>
          </a:prstGeom>
          <a:solidFill>
            <a:srgbClr val="FFBB33"/>
          </a:solidFill>
          <a:ln w="12700">
            <a:solidFill>
              <a:srgbClr val="FFBB33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95448" y="3931920"/>
            <a:ext cx="640080" cy="6400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626968" y="397764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结算 Agent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3626968" y="427024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Settlement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2895448" y="47548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里程碑 · 异常检测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4989424" y="370332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989424" y="3703320"/>
            <a:ext cx="2212848" cy="73152"/>
          </a:xfrm>
          <a:prstGeom prst="rect">
            <a:avLst>
              <a:gd name="adj" fmla="val 100000"/>
            </a:avLst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72304" y="3931920"/>
            <a:ext cx="640080" cy="64008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903824" y="397764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客服 Agent</a:t>
            </a:r>
            <a:endParaRPr lang="en-US" sz="1400" dirty="0"/>
          </a:p>
        </p:txBody>
      </p:sp>
      <p:sp>
        <p:nvSpPr>
          <p:cNvPr id="52" name="Text 42"/>
          <p:cNvSpPr/>
          <p:nvPr/>
        </p:nvSpPr>
        <p:spPr>
          <a:xfrm>
            <a:off x="5903824" y="427024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Concierge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5172304" y="47548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FAQ 知识库 · 智能升级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7266280" y="370332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7266280" y="3703320"/>
            <a:ext cx="2212848" cy="73152"/>
          </a:xfrm>
          <a:prstGeom prst="rect">
            <a:avLst>
              <a:gd name="adj" fmla="val 100000"/>
            </a:avLst>
          </a:prstGeom>
          <a:solidFill>
            <a:srgbClr val="3392FF"/>
          </a:solidFill>
          <a:ln w="12700">
            <a:solidFill>
              <a:srgbClr val="3392FF"/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49160" y="3931920"/>
            <a:ext cx="640080" cy="64008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8180680" y="397764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内容发布 Agent</a:t>
            </a:r>
            <a:endParaRPr lang="en-US" sz="1400" dirty="0"/>
          </a:p>
        </p:txBody>
      </p:sp>
      <p:sp>
        <p:nvSpPr>
          <p:cNvPr id="58" name="Text 47"/>
          <p:cNvSpPr/>
          <p:nvPr/>
        </p:nvSpPr>
        <p:spPr>
          <a:xfrm>
            <a:off x="8180680" y="427024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ContentPublisher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7449160" y="47548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供应商产品上架 · 文案</a:t>
            </a:r>
            <a:endParaRPr lang="en-US" sz="1050" dirty="0"/>
          </a:p>
        </p:txBody>
      </p:sp>
      <p:sp>
        <p:nvSpPr>
          <p:cNvPr id="60" name="Shape 49"/>
          <p:cNvSpPr/>
          <p:nvPr/>
        </p:nvSpPr>
        <p:spPr>
          <a:xfrm>
            <a:off x="9543136" y="3703320"/>
            <a:ext cx="2212848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9543136" y="3703320"/>
            <a:ext cx="2212848" cy="73152"/>
          </a:xfrm>
          <a:prstGeom prst="rect">
            <a:avLst>
              <a:gd name="adj" fmla="val 100000"/>
            </a:avLst>
          </a:prstGeom>
          <a:solidFill>
            <a:srgbClr val="4D4D50"/>
          </a:solidFill>
          <a:ln w="12700">
            <a:solidFill>
              <a:srgbClr val="4D4D50"/>
            </a:solidFill>
            <a:prstDash val="solid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726016" y="3931920"/>
            <a:ext cx="640080" cy="640080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10457536" y="397764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 Agent</a:t>
            </a:r>
            <a:endParaRPr lang="en-US" sz="1400" dirty="0"/>
          </a:p>
        </p:txBody>
      </p:sp>
      <p:sp>
        <p:nvSpPr>
          <p:cNvPr id="64" name="Text 52"/>
          <p:cNvSpPr/>
          <p:nvPr/>
        </p:nvSpPr>
        <p:spPr>
          <a:xfrm>
            <a:off x="10457536" y="4270248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Admin</a:t>
            </a:r>
            <a:endParaRPr lang="en-US" sz="900" dirty="0"/>
          </a:p>
        </p:txBody>
      </p:sp>
      <p:sp>
        <p:nvSpPr>
          <p:cNvPr id="65" name="Text 53"/>
          <p:cNvSpPr/>
          <p:nvPr/>
        </p:nvSpPr>
        <p:spPr>
          <a:xfrm>
            <a:off x="9726016" y="47548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用户管理 · 权限审核</a:t>
            </a:r>
            <a:endParaRPr lang="en-US" sz="1050" dirty="0"/>
          </a:p>
        </p:txBody>
      </p:sp>
      <p:sp>
        <p:nvSpPr>
          <p:cNvPr id="66" name="Text 54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总控 Agent 负责意图识别与任务路由  →  10 大 Agent 协作完成全链路自动化</a:t>
            </a:r>
            <a:endParaRPr lang="en-US" sz="1200" dirty="0"/>
          </a:p>
        </p:txBody>
      </p:sp>
      <p:sp>
        <p:nvSpPr>
          <p:cNvPr id="67" name="Text 5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68" name="Text 56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ARCHITECTURE  ·  多端协同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四端分离架构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一个数据底座 · 四个角色终端 · 实时数据同步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568" y="1828800"/>
            <a:ext cx="2697480" cy="402336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568" y="1828800"/>
            <a:ext cx="2697480" cy="914400"/>
          </a:xfrm>
          <a:prstGeom prst="rect">
            <a:avLst>
              <a:gd name="adj" fmla="val 10000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568" y="2468880"/>
            <a:ext cx="2697480" cy="2743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3828" y="1993392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448" y="2880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09448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iPad Pro / Android / 鸿蒙平板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9448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室内设计师 / 建筑师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2328" y="4023360"/>
            <a:ext cx="196596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0888" y="4361688"/>
            <a:ext cx="91440" cy="914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3768" y="42245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2D CAD 精确绘图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0888" y="4818888"/>
            <a:ext cx="91440" cy="914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3768" y="4681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3D 建模 · 效果图渲染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0888" y="5276088"/>
            <a:ext cx="91440" cy="9144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3768" y="51389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平立剖自动生成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06928" y="1828800"/>
            <a:ext cx="2697480" cy="402336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06928" y="1828800"/>
            <a:ext cx="2697480" cy="914400"/>
          </a:xfrm>
          <a:prstGeom prst="rect">
            <a:avLst>
              <a:gd name="adj" fmla="val 1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06928" y="2468880"/>
            <a:ext cx="2697480" cy="2743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4188" y="1993392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489808" y="2880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业主端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3489808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iPhone / Android / 鸿蒙手机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489808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业主 (发包方)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672688" y="4023360"/>
            <a:ext cx="196596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581248" y="4361688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764128" y="42245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方案浏览 · AR 预览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581248" y="4818888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764128" y="4681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预算监控 · 采购审批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581248" y="5276088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764128" y="51389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进度实时查看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187288" y="1828800"/>
            <a:ext cx="2697480" cy="402336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87288" y="1828800"/>
            <a:ext cx="2697480" cy="914400"/>
          </a:xfrm>
          <a:prstGeom prst="rect">
            <a:avLst>
              <a:gd name="adj" fmla="val 10000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187288" y="2468880"/>
            <a:ext cx="2697480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4548" y="1993392"/>
            <a:ext cx="640080" cy="6400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370168" y="2880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供应链端</a:t>
            </a:r>
            <a:endParaRPr lang="en-US" sz="2000" dirty="0"/>
          </a:p>
        </p:txBody>
      </p:sp>
      <p:sp>
        <p:nvSpPr>
          <p:cNvPr id="39" name="Text 34"/>
          <p:cNvSpPr/>
          <p:nvPr/>
        </p:nvSpPr>
        <p:spPr>
          <a:xfrm>
            <a:off x="6370168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 · Web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370168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建材供应商 / 家具品牌商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553048" y="4023360"/>
            <a:ext cx="196596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461608" y="4361688"/>
            <a:ext cx="91440" cy="914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644488" y="42245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询价推送 · 在线报价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461608" y="4818888"/>
            <a:ext cx="91440" cy="914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644488" y="4681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订单管理 · 物流追踪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6461608" y="5276088"/>
            <a:ext cx="91440" cy="914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644488" y="51389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样品索要 · 担保支付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9067648" y="1828800"/>
            <a:ext cx="2697480" cy="402336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9067648" y="1828800"/>
            <a:ext cx="2697480" cy="914400"/>
          </a:xfrm>
          <a:prstGeom prst="rect">
            <a:avLst>
              <a:gd name="adj" fmla="val 10000"/>
            </a:avLst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9067648" y="2468880"/>
            <a:ext cx="2697480" cy="274320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04908" y="1993392"/>
            <a:ext cx="640080" cy="64008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9250528" y="2880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施工端</a:t>
            </a:r>
            <a:endParaRPr lang="en-US" sz="2000" dirty="0"/>
          </a:p>
        </p:txBody>
      </p:sp>
      <p:sp>
        <p:nvSpPr>
          <p:cNvPr id="53" name="Text 47"/>
          <p:cNvSpPr/>
          <p:nvPr/>
        </p:nvSpPr>
        <p:spPr>
          <a:xfrm>
            <a:off x="9250528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 · 离线模式</a:t>
            </a:r>
            <a:endParaRPr lang="en-US" sz="1050" dirty="0"/>
          </a:p>
        </p:txBody>
      </p:sp>
      <p:sp>
        <p:nvSpPr>
          <p:cNvPr id="54" name="Text 48"/>
          <p:cNvSpPr/>
          <p:nvPr/>
        </p:nvSpPr>
        <p:spPr>
          <a:xfrm>
            <a:off x="9250528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工长 / 施工队 / 监理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9433408" y="4023360"/>
            <a:ext cx="196596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341968" y="4361688"/>
            <a:ext cx="91440" cy="91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9524848" y="42245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任务接收 · 拍照上报</a:t>
            </a:r>
            <a:endParaRPr lang="en-US" sz="1100" dirty="0"/>
          </a:p>
        </p:txBody>
      </p:sp>
      <p:sp>
        <p:nvSpPr>
          <p:cNvPr id="58" name="Shape 52"/>
          <p:cNvSpPr/>
          <p:nvPr/>
        </p:nvSpPr>
        <p:spPr>
          <a:xfrm>
            <a:off x="9341968" y="4818888"/>
            <a:ext cx="91440" cy="91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9524848" y="4681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质检 · 离线模式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9341968" y="5276088"/>
            <a:ext cx="91440" cy="91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9524848" y="51389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Gantt 排期 · 变更管理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457200" y="6035040"/>
            <a:ext cx="11274552" cy="365760"/>
          </a:xfrm>
          <a:prstGeom prst="rect">
            <a:avLst>
              <a:gd name="adj" fmla="val 15000"/>
            </a:avLst>
          </a:prstGeom>
          <a:solidFill>
            <a:srgbClr val="0018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统一数据底座  ·  PostgreSQL + Redis + 向量库 + 对象存储  ·  WebSocket 实时同步  ·  PASETO 认证</a:t>
            </a:r>
            <a:endParaRPr lang="en-US" sz="1200" dirty="0"/>
          </a:p>
        </p:txBody>
      </p:sp>
      <p:sp>
        <p:nvSpPr>
          <p:cNvPr id="63" name="Text 5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DIFFERENTIATION  ·  差异化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核心差异化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vs 传统家装模式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5079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传统模式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索克家居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运营主体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人类设计师 / 预算员 / 监理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A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Agent 7×24 自主运营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数据流转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多工具碎片化导入导出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A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统一数据底座实时同步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交互方式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鼠标键盘操作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A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语音 / 拍照 / AR 多模态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覆盖范围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单一环节 (设计或施工)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A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测量→设计→采购→施工→结算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质量保障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依赖个人经验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A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质检 + 多节点验收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成本透明度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报价不透明，增项频发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A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全链路透明，实时比价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5148" y="5852160"/>
            <a:ext cx="2697480" cy="457200"/>
          </a:xfrm>
          <a:prstGeom prst="rect">
            <a:avLst>
              <a:gd name="adj" fmla="val 10000"/>
            </a:avLst>
          </a:prstGeom>
          <a:solidFill>
            <a:srgbClr val="E8F2FF"/>
          </a:solidFill>
          <a:ln w="6350">
            <a:solidFill>
              <a:srgbClr val="339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028" y="5852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10×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75308" y="5852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自治效率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29788" y="5852160"/>
            <a:ext cx="2697480" cy="457200"/>
          </a:xfrm>
          <a:prstGeom prst="rect">
            <a:avLst>
              <a:gd name="adj" fmla="val 10000"/>
            </a:avLst>
          </a:prstGeom>
          <a:solidFill>
            <a:srgbClr val="E8F2FF"/>
          </a:solidFill>
          <a:ln w="6350">
            <a:solidFill>
              <a:srgbClr val="339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12668" y="5852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09948" y="5852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全链路数据贯通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64428" y="5852160"/>
            <a:ext cx="2697480" cy="457200"/>
          </a:xfrm>
          <a:prstGeom prst="rect">
            <a:avLst>
              <a:gd name="adj" fmla="val 10000"/>
            </a:avLst>
          </a:prstGeom>
          <a:solidFill>
            <a:srgbClr val="E8F2FF"/>
          </a:solidFill>
          <a:ln w="6350">
            <a:solidFill>
              <a:srgbClr val="3392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47308" y="5852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44588" y="5852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实时同步延迟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99068" y="5852160"/>
            <a:ext cx="2697480" cy="457200"/>
          </a:xfrm>
          <a:prstGeom prst="rect">
            <a:avLst>
              <a:gd name="adj" fmla="val 10000"/>
            </a:avLst>
          </a:prstGeom>
          <a:solidFill>
            <a:srgbClr val="E8F2FF"/>
          </a:solidFill>
          <a:ln w="6350">
            <a:solidFill>
              <a:srgbClr val="339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81948" y="5852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0.1%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0279228" y="5852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崩溃率 (验收就绪)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FEATURES  ·  功能矩阵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核心功能矩阵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覆盖「设计 → 选材 → 采购 → 施工 → 验收」全流程 · 45 个 API 模块 · 460 个端点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148" y="1783080"/>
            <a:ext cx="36118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5148" y="1783080"/>
            <a:ext cx="91440" cy="1828800"/>
          </a:xfrm>
          <a:prstGeom prst="rect">
            <a:avLst>
              <a:gd name="adj" fmla="val 80000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468" y="20116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5268" y="2011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智能设计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87756" y="2761488"/>
            <a:ext cx="73152" cy="73152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2348" y="2633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方案生成 · 9 套布局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7756" y="3054096"/>
            <a:ext cx="73152" cy="73152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348" y="29260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平立剖 5 视图 · 3D 渲染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7756" y="3346704"/>
            <a:ext cx="73152" cy="73152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2348" y="321868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动线分析 · 灯光设计 (F28/F29/F30)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89908" y="1783080"/>
            <a:ext cx="36118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89908" y="1783080"/>
            <a:ext cx="91440" cy="1828800"/>
          </a:xfrm>
          <a:prstGeom prst="rect">
            <a:avLst>
              <a:gd name="adj" fmla="val 8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4228" y="2011680"/>
            <a:ext cx="5943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0028" y="2011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精准预算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582516" y="2761488"/>
            <a:ext cx="73152" cy="73152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47108" y="2633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 BOM 生成 · 多方比价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82516" y="3054096"/>
            <a:ext cx="73152" cy="73152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47108" y="29260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偏差预警 · 模板库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82516" y="3346704"/>
            <a:ext cx="73152" cy="73152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47108" y="321868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实时预算监控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084668" y="1783080"/>
            <a:ext cx="36118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084668" y="1783080"/>
            <a:ext cx="91440" cy="1828800"/>
          </a:xfrm>
          <a:prstGeom prst="rect">
            <a:avLst>
              <a:gd name="adj" fmla="val 80000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8988" y="2011680"/>
            <a:ext cx="594360" cy="5943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44788" y="2011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 测量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8377276" y="2761488"/>
            <a:ext cx="73152" cy="7315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541868" y="2633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RoomPlan 空间扫描 (F1)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377276" y="3054096"/>
            <a:ext cx="73152" cy="7315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541868" y="29260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精度校验 · 墙面特征识别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377276" y="3346704"/>
            <a:ext cx="73152" cy="73152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541868" y="321868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离线模式 · 设备降级策略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95148" y="3776472"/>
            <a:ext cx="36118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95148" y="3776472"/>
            <a:ext cx="91440" cy="1828800"/>
          </a:xfrm>
          <a:prstGeom prst="rect">
            <a:avLst>
              <a:gd name="adj" fmla="val 80000"/>
            </a:avLst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468" y="4005072"/>
            <a:ext cx="594360" cy="5943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455268" y="40050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智能采购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787756" y="4754880"/>
            <a:ext cx="73152" cy="73152"/>
          </a:xfrm>
          <a:prstGeom prst="ellipse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52348" y="462686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比价报告 · 供应商匹配 (F33)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787756" y="5047488"/>
            <a:ext cx="73152" cy="73152"/>
          </a:xfrm>
          <a:prstGeom prst="ellipse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52348" y="4919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担保支付 · 物流追踪 (F34)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787756" y="5340096"/>
            <a:ext cx="73152" cy="73152"/>
          </a:xfrm>
          <a:prstGeom prst="ellipse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952348" y="52120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样品索要 · 采购增强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4289908" y="3776472"/>
            <a:ext cx="36118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4289908" y="3776472"/>
            <a:ext cx="91440" cy="1828800"/>
          </a:xfrm>
          <a:prstGeom prst="rect">
            <a:avLst>
              <a:gd name="adj" fmla="val 80000"/>
            </a:avLst>
          </a:prstGeom>
          <a:solidFill>
            <a:srgbClr val="3392FF"/>
          </a:solidFill>
          <a:ln w="12700">
            <a:solidFill>
              <a:srgbClr val="3392FF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4228" y="4005072"/>
            <a:ext cx="594360" cy="5943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250028" y="40050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施工管理</a:t>
            </a:r>
            <a:endParaRPr lang="en-US" sz="1800" dirty="0"/>
          </a:p>
        </p:txBody>
      </p:sp>
      <p:sp>
        <p:nvSpPr>
          <p:cNvPr id="50" name="Shape 43"/>
          <p:cNvSpPr/>
          <p:nvPr/>
        </p:nvSpPr>
        <p:spPr>
          <a:xfrm>
            <a:off x="4582516" y="4754880"/>
            <a:ext cx="73152" cy="73152"/>
          </a:xfrm>
          <a:prstGeom prst="ellipse">
            <a:avLst/>
          </a:prstGeom>
          <a:solidFill>
            <a:srgbClr val="3392FF"/>
          </a:solidFill>
          <a:ln w="12700">
            <a:solidFill>
              <a:srgbClr val="3392F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4747108" y="462686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Gantt 排期 · 任务接收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4582516" y="5047488"/>
            <a:ext cx="73152" cy="73152"/>
          </a:xfrm>
          <a:prstGeom prst="ellipse">
            <a:avLst/>
          </a:prstGeom>
          <a:solidFill>
            <a:srgbClr val="3392FF"/>
          </a:solidFill>
          <a:ln w="12700">
            <a:solidFill>
              <a:srgbClr val="3392FF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747108" y="4919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拍照上报 · 变更管理 (F39)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4582516" y="5340096"/>
            <a:ext cx="73152" cy="73152"/>
          </a:xfrm>
          <a:prstGeom prst="ellipse">
            <a:avLst/>
          </a:prstGeom>
          <a:solidFill>
            <a:srgbClr val="3392FF"/>
          </a:solidFill>
          <a:ln w="12700">
            <a:solidFill>
              <a:srgbClr val="3392FF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4747108" y="52120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F37 进度 · F38 质量检测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8084668" y="3776472"/>
            <a:ext cx="36118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7" name="Shape 50"/>
          <p:cNvSpPr/>
          <p:nvPr/>
        </p:nvSpPr>
        <p:spPr>
          <a:xfrm>
            <a:off x="8084668" y="3776472"/>
            <a:ext cx="91440" cy="1828800"/>
          </a:xfrm>
          <a:prstGeom prst="rect">
            <a:avLst>
              <a:gd name="adj" fmla="val 80000"/>
            </a:avLst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58988" y="4005072"/>
            <a:ext cx="594360" cy="594360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9044788" y="40050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质检</a:t>
            </a:r>
            <a:endParaRPr lang="en-US" sz="1800" dirty="0"/>
          </a:p>
        </p:txBody>
      </p:sp>
      <p:sp>
        <p:nvSpPr>
          <p:cNvPr id="60" name="Shape 52"/>
          <p:cNvSpPr/>
          <p:nvPr/>
        </p:nvSpPr>
        <p:spPr>
          <a:xfrm>
            <a:off x="8377276" y="4754880"/>
            <a:ext cx="73152" cy="73152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8541868" y="462686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验收报告 · 缺陷识别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8377276" y="5047488"/>
            <a:ext cx="73152" cy="73152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8541868" y="49194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设计比对 · 整改建议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8377276" y="5340096"/>
            <a:ext cx="73152" cy="73152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8541868" y="52120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图像智能审核</a:t>
            </a:r>
            <a:endParaRPr lang="en-US" sz="1100" dirty="0"/>
          </a:p>
        </p:txBody>
      </p:sp>
      <p:sp>
        <p:nvSpPr>
          <p:cNvPr id="66" name="Text 58"/>
          <p:cNvSpPr/>
          <p:nvPr/>
        </p:nvSpPr>
        <p:spPr>
          <a:xfrm>
            <a:off x="457200" y="589788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500" dirty="0"/>
          </a:p>
        </p:txBody>
      </p:sp>
      <p:sp>
        <p:nvSpPr>
          <p:cNvPr id="67" name="Text 59"/>
          <p:cNvSpPr/>
          <p:nvPr/>
        </p:nvSpPr>
        <p:spPr>
          <a:xfrm>
            <a:off x="457200" y="6199632"/>
            <a:ext cx="18790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页面</a:t>
            </a:r>
            <a:endParaRPr lang="en-US" sz="950" dirty="0"/>
          </a:p>
        </p:txBody>
      </p:sp>
      <p:sp>
        <p:nvSpPr>
          <p:cNvPr id="68" name="Text 60"/>
          <p:cNvSpPr/>
          <p:nvPr/>
        </p:nvSpPr>
        <p:spPr>
          <a:xfrm>
            <a:off x="2336292" y="589788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500" dirty="0"/>
          </a:p>
        </p:txBody>
      </p:sp>
      <p:sp>
        <p:nvSpPr>
          <p:cNvPr id="69" name="Text 61"/>
          <p:cNvSpPr/>
          <p:nvPr/>
        </p:nvSpPr>
        <p:spPr>
          <a:xfrm>
            <a:off x="2336292" y="6199632"/>
            <a:ext cx="18790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HTML 页面</a:t>
            </a:r>
            <a:endParaRPr lang="en-US" sz="950" dirty="0"/>
          </a:p>
        </p:txBody>
      </p:sp>
      <p:sp>
        <p:nvSpPr>
          <p:cNvPr id="70" name="Text 62"/>
          <p:cNvSpPr/>
          <p:nvPr/>
        </p:nvSpPr>
        <p:spPr>
          <a:xfrm>
            <a:off x="4215384" y="589788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500" dirty="0"/>
          </a:p>
        </p:txBody>
      </p:sp>
      <p:sp>
        <p:nvSpPr>
          <p:cNvPr id="71" name="Text 63"/>
          <p:cNvSpPr/>
          <p:nvPr/>
        </p:nvSpPr>
        <p:spPr>
          <a:xfrm>
            <a:off x="4215384" y="6199632"/>
            <a:ext cx="18790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JS 模块</a:t>
            </a:r>
            <a:endParaRPr lang="en-US" sz="950" dirty="0"/>
          </a:p>
        </p:txBody>
      </p:sp>
      <p:sp>
        <p:nvSpPr>
          <p:cNvPr id="72" name="Text 64"/>
          <p:cNvSpPr/>
          <p:nvPr/>
        </p:nvSpPr>
        <p:spPr>
          <a:xfrm>
            <a:off x="6094476" y="589788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500" dirty="0"/>
          </a:p>
        </p:txBody>
      </p:sp>
      <p:sp>
        <p:nvSpPr>
          <p:cNvPr id="73" name="Text 65"/>
          <p:cNvSpPr/>
          <p:nvPr/>
        </p:nvSpPr>
        <p:spPr>
          <a:xfrm>
            <a:off x="6094476" y="6199632"/>
            <a:ext cx="18790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ORM 数据模型</a:t>
            </a:r>
            <a:endParaRPr lang="en-US" sz="950" dirty="0"/>
          </a:p>
        </p:txBody>
      </p:sp>
      <p:sp>
        <p:nvSpPr>
          <p:cNvPr id="74" name="Text 66"/>
          <p:cNvSpPr/>
          <p:nvPr/>
        </p:nvSpPr>
        <p:spPr>
          <a:xfrm>
            <a:off x="7973568" y="589788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1500" dirty="0"/>
          </a:p>
        </p:txBody>
      </p:sp>
      <p:sp>
        <p:nvSpPr>
          <p:cNvPr id="75" name="Text 67"/>
          <p:cNvSpPr/>
          <p:nvPr/>
        </p:nvSpPr>
        <p:spPr>
          <a:xfrm>
            <a:off x="7973568" y="6199632"/>
            <a:ext cx="18790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业务服务</a:t>
            </a:r>
            <a:endParaRPr lang="en-US" sz="950" dirty="0"/>
          </a:p>
        </p:txBody>
      </p:sp>
      <p:sp>
        <p:nvSpPr>
          <p:cNvPr id="76" name="Text 68"/>
          <p:cNvSpPr/>
          <p:nvPr/>
        </p:nvSpPr>
        <p:spPr>
          <a:xfrm>
            <a:off x="9852660" y="5897880"/>
            <a:ext cx="18790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500" dirty="0"/>
          </a:p>
        </p:txBody>
      </p:sp>
      <p:sp>
        <p:nvSpPr>
          <p:cNvPr id="77" name="Text 69"/>
          <p:cNvSpPr/>
          <p:nvPr/>
        </p:nvSpPr>
        <p:spPr>
          <a:xfrm>
            <a:off x="9852660" y="6199632"/>
            <a:ext cx="18790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Alembic 迁移</a:t>
            </a:r>
            <a:endParaRPr lang="en-US" sz="950" dirty="0"/>
          </a:p>
        </p:txBody>
      </p:sp>
      <p:sp>
        <p:nvSpPr>
          <p:cNvPr id="78" name="Text 7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79" name="Text 71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TECH STACK  ·  技术栈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四层架构 · 安全可靠 · 高性能可扩展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7589520" cy="713232"/>
          </a:xfrm>
          <a:prstGeom prst="rect">
            <a:avLst>
              <a:gd name="adj" fmla="val 7692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47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 自治层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 + GLM (LLM)  ·  规则混合路由  ·  FunctionCall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801014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DeepSeek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02198" y="1874520"/>
            <a:ext cx="548640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5702" y="1874520"/>
            <a:ext cx="548640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09206" y="1874520"/>
            <a:ext cx="576072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7589520" cy="713232"/>
          </a:xfrm>
          <a:prstGeom prst="rect">
            <a:avLst>
              <a:gd name="adj" fmla="val 7692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70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客户端层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992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3.35.7 (iOS/Android/HarmonyOS)  ·  Web (Three.js)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726034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27218" y="2697480"/>
            <a:ext cx="801014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Three.js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83096" y="2697480"/>
            <a:ext cx="576072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14032" y="2697480"/>
            <a:ext cx="651053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Canvas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7589520" cy="713232"/>
          </a:xfrm>
          <a:prstGeom prst="rect">
            <a:avLst>
              <a:gd name="adj" fmla="val 7692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3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网关与服务层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82219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 · PASETO v4 · WebSocket · RBAC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726034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7218" y="3520440"/>
            <a:ext cx="651053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PASETO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33134" y="3520440"/>
            <a:ext cx="875995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WebSocket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3994" y="3520440"/>
            <a:ext cx="548640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RBAC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7589520" cy="713232"/>
          </a:xfrm>
          <a:prstGeom prst="rect">
            <a:avLst>
              <a:gd name="adj" fmla="val 7692"/>
            </a:avLst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15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64515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PostgreSQL / SQLite  ·  Redis  ·  向量库  ·  OSS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4343400"/>
            <a:ext cx="950976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4343400"/>
            <a:ext cx="576072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83096" y="4343400"/>
            <a:ext cx="651053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Qdrant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89013" y="4343400"/>
            <a:ext cx="548640" cy="228600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178308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关键能力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2194560"/>
            <a:ext cx="3502152" cy="384048"/>
          </a:xfrm>
          <a:prstGeom prst="rect">
            <a:avLst>
              <a:gd name="adj" fmla="val 9524"/>
            </a:avLst>
          </a:prstGeom>
          <a:solidFill>
            <a:srgbClr val="FAFAFA"/>
          </a:solidFill>
          <a:ln w="6350">
            <a:solidFill>
              <a:srgbClr val="E8E8ED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PASETO Token 认证 (v4 local)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2651760"/>
            <a:ext cx="3502152" cy="384048"/>
          </a:xfrm>
          <a:prstGeom prst="rect">
            <a:avLst>
              <a:gd name="adj" fmla="val 9524"/>
            </a:avLst>
          </a:prstGeom>
          <a:solidFill>
            <a:srgbClr val="FAFAFA"/>
          </a:solidFill>
          <a:ln w="6350">
            <a:solidFill>
              <a:srgbClr val="E8E8ED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WebSocket 实时同步 &lt; 3s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3108960"/>
            <a:ext cx="3502152" cy="384048"/>
          </a:xfrm>
          <a:prstGeom prst="rect">
            <a:avLst>
              <a:gd name="adj" fmla="val 9524"/>
            </a:avLst>
          </a:prstGeom>
          <a:solidFill>
            <a:srgbClr val="FAFAFA"/>
          </a:solidFill>
          <a:ln w="6350">
            <a:solidFill>
              <a:srgbClr val="E8E8ED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Flutter 41 页面 · 57 Dart 文件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3566160"/>
            <a:ext cx="3502152" cy="384048"/>
          </a:xfrm>
          <a:prstGeom prst="rect">
            <a:avLst>
              <a:gd name="adj" fmla="val 9524"/>
            </a:avLst>
          </a:prstGeom>
          <a:solidFill>
            <a:srgbClr val="FAFAFA"/>
          </a:solidFill>
          <a:ln w="6350">
            <a:solidFill>
              <a:srgbClr val="E8E8ED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OpenTelemetry 追踪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4023360"/>
            <a:ext cx="3502152" cy="384048"/>
          </a:xfrm>
          <a:prstGeom prst="rect">
            <a:avLst>
              <a:gd name="adj" fmla="val 9524"/>
            </a:avLst>
          </a:prstGeom>
          <a:solidFill>
            <a:srgbClr val="FAFAFA"/>
          </a:solidFill>
          <a:ln w="6350">
            <a:solidFill>
              <a:srgbClr val="E8E8ED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RBAC 细粒度权限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480560"/>
            <a:ext cx="3502152" cy="384048"/>
          </a:xfrm>
          <a:prstGeom prst="rect">
            <a:avLst>
              <a:gd name="adj" fmla="val 9524"/>
            </a:avLst>
          </a:prstGeom>
          <a:solidFill>
            <a:srgbClr val="FAFAFA"/>
          </a:solidFill>
          <a:ln w="6350">
            <a:solidFill>
              <a:srgbClr val="E8E8ED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WebAuthn / Passkey 无密码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4937760"/>
            <a:ext cx="3502152" cy="384048"/>
          </a:xfrm>
          <a:prstGeom prst="rect">
            <a:avLst>
              <a:gd name="adj" fmla="val 9524"/>
            </a:avLst>
          </a:prstGeom>
          <a:solidFill>
            <a:srgbClr val="FAFAFA"/>
          </a:solidFill>
          <a:ln w="6350">
            <a:solidFill>
              <a:srgbClr val="E8E8ED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IDOR 防护 34 / 45 模块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5394960"/>
            <a:ext cx="3502152" cy="384048"/>
          </a:xfrm>
          <a:prstGeom prst="rect">
            <a:avLst>
              <a:gd name="adj" fmla="val 9524"/>
            </a:avLst>
          </a:prstGeom>
          <a:solidFill>
            <a:srgbClr val="FAFAFA"/>
          </a:solidFill>
          <a:ln w="6350">
            <a:solidFill>
              <a:srgbClr val="E8E8ED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CI/CD 4 job · 健康检查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852160"/>
            <a:ext cx="11274552" cy="457200"/>
          </a:xfrm>
          <a:prstGeom prst="rect">
            <a:avLst>
              <a:gd name="adj" fmla="val 12000"/>
            </a:avLst>
          </a:prstGeom>
          <a:solidFill>
            <a:srgbClr val="001833"/>
          </a:solidFill>
          <a:ln w="12700">
            <a:solidFill>
              <a:srgbClr val="0018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89788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670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246419" y="5897880"/>
            <a:ext cx="10335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测试通过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36292" y="589788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125511" y="5897880"/>
            <a:ext cx="10335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215384" y="589788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004603" y="5897880"/>
            <a:ext cx="10335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跳过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94476" y="589788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883695" y="5897880"/>
            <a:ext cx="10335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测试文件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73568" y="589788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762787" y="5897880"/>
            <a:ext cx="10335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端点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852660" y="5897880"/>
            <a:ext cx="7516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641879" y="5897880"/>
            <a:ext cx="10335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SMART HOME  ·  智能家居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智能家居 &amp; 场景联动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从设计到入住，智能家居一站式集成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568" y="1783080"/>
            <a:ext cx="2697480" cy="338328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568" y="1783080"/>
            <a:ext cx="2697480" cy="1280160"/>
          </a:xfrm>
          <a:prstGeom prst="rect">
            <a:avLst>
              <a:gd name="adj" fmla="val 7143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568" y="2788920"/>
            <a:ext cx="2697480" cy="2743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8108" y="196596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448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智能方案设计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448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F31 · Smart Home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3768" y="3931920"/>
            <a:ext cx="178308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0888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设备点位规划 · 布线设计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协议选型 (Zigbee / Wi-Fi / BLE)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06928" y="1783080"/>
            <a:ext cx="2697480" cy="338328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06928" y="1783080"/>
            <a:ext cx="2697480" cy="1280160"/>
          </a:xfrm>
          <a:prstGeom prst="rect">
            <a:avLst>
              <a:gd name="adj" fmla="val 7143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06928" y="2788920"/>
            <a:ext cx="2697480" cy="2743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468" y="196596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89808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场景自动化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489808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F32 · Scene Automation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764128" y="3931920"/>
            <a:ext cx="178308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81248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联动触发规则 · 场景模拟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自然语言场景解析 · 生态对接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87288" y="1783080"/>
            <a:ext cx="2697480" cy="338328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87288" y="1783080"/>
            <a:ext cx="2697480" cy="1280160"/>
          </a:xfrm>
          <a:prstGeom prst="rect">
            <a:avLst>
              <a:gd name="adj" fmla="val 7143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87288" y="2788920"/>
            <a:ext cx="2697480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8828" y="1965960"/>
            <a:ext cx="914400" cy="9144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70168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 全景漫游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370168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 Panorama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644488" y="3931920"/>
            <a:ext cx="178308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61608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等距柱状投影渲染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热点交互 · 多场景切换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067648" y="1783080"/>
            <a:ext cx="2697480" cy="338328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067648" y="1783080"/>
            <a:ext cx="2697480" cy="1280160"/>
          </a:xfrm>
          <a:prstGeom prst="rect">
            <a:avLst>
              <a:gd name="adj" fmla="val 7143"/>
            </a:avLst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067648" y="2788920"/>
            <a:ext cx="2697480" cy="274320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59188" y="1965960"/>
            <a:ext cx="914400" cy="9144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50528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效果图生成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250528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Image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524848" y="3931920"/>
            <a:ext cx="178308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341968" y="4069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SDXL / ControlNet 图生图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批量渲染 · 风格迁移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57200" y="5440680"/>
            <a:ext cx="11274552" cy="914400"/>
          </a:xfrm>
          <a:prstGeom prst="rect">
            <a:avLst>
              <a:gd name="adj" fmla="val 8000"/>
            </a:avLst>
          </a:prstGeom>
          <a:solidFill>
            <a:srgbClr val="001833"/>
          </a:solidFill>
          <a:ln w="12700">
            <a:solidFill>
              <a:srgbClr val="00183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集成生态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40080" y="57607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个智能家居生态对接  ·  自然语言场景解析  ·  AI 自动推荐设备点位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640080" y="6035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C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Zigbee  ·  Wi-Fi  ·  BLE  ·  Matter  ·  HomeKit  ·  米家  ·  涂鸦  ·  华为 HiLink  ·  欧瑞博  ·  Aqara  ·  绿米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MARKET  ·  市场机遇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市场机遇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万亿家装市场 · 数字化渗透率不足 10% · 巨大增长空间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394960" cy="914400"/>
          </a:xfrm>
          <a:prstGeom prst="rect">
            <a:avLst>
              <a:gd name="adj" fmla="val 6000"/>
            </a:avLst>
          </a:prstGeom>
          <a:solidFill>
            <a:srgbClr val="FAFAFA"/>
          </a:solidFill>
          <a:ln w="6350">
            <a:solidFill>
              <a:srgbClr val="E8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91440" cy="914400"/>
          </a:xfrm>
          <a:prstGeom prst="rect">
            <a:avLst>
              <a:gd name="adj" fmla="val 60000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万亿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中国家装市场规模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394960" cy="914400"/>
          </a:xfrm>
          <a:prstGeom prst="rect">
            <a:avLst>
              <a:gd name="adj" fmla="val 6000"/>
            </a:avLst>
          </a:prstGeom>
          <a:solidFill>
            <a:srgbClr val="FAFAFA"/>
          </a:solidFill>
          <a:ln w="6350">
            <a:solidFill>
              <a:srgbClr val="E8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34640"/>
            <a:ext cx="91440" cy="914400"/>
          </a:xfrm>
          <a:prstGeom prst="rect">
            <a:avLst>
              <a:gd name="adj" fmla="val 6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29535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年均复合增长率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291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预计 2026-2030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394960" cy="914400"/>
          </a:xfrm>
          <a:prstGeom prst="rect">
            <a:avLst>
              <a:gd name="adj" fmla="val 6000"/>
            </a:avLst>
          </a:prstGeom>
          <a:solidFill>
            <a:srgbClr val="FAFAFA"/>
          </a:solidFill>
          <a:ln w="6350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86200"/>
            <a:ext cx="91440" cy="914400"/>
          </a:xfrm>
          <a:prstGeom prst="rect">
            <a:avLst>
              <a:gd name="adj" fmla="val 60000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10%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7432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数字化渗透率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巨大增长空间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5394960" cy="914400"/>
          </a:xfrm>
          <a:prstGeom prst="rect">
            <a:avLst>
              <a:gd name="adj" fmla="val 6000"/>
            </a:avLst>
          </a:prstGeom>
          <a:solidFill>
            <a:srgbClr val="FAFAFA"/>
          </a:solidFill>
          <a:ln w="6350">
            <a:solidFill>
              <a:srgbClr val="E8E8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937760"/>
            <a:ext cx="91440" cy="914400"/>
          </a:xfrm>
          <a:prstGeom prst="rect">
            <a:avLst>
              <a:gd name="adj" fmla="val 60000"/>
            </a:avLst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C8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0" y="5056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首次装修占比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目标用户基数庞大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17830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26480" y="2240280"/>
            <a:ext cx="5605272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5080" y="2377440"/>
            <a:ext cx="640080" cy="6400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178040" y="23500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业主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178040" y="26974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透明比价 · 实时进度 · 预算控制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3291840"/>
            <a:ext cx="5605272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5080" y="3429000"/>
            <a:ext cx="640080" cy="6400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78040" y="34015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设计师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7178040" y="37490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高效出图 · 自动 BOM · 方案同步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126480" y="4343400"/>
            <a:ext cx="5605272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4480560"/>
            <a:ext cx="640080" cy="6400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178040" y="44531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施工队 / 工长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7178040" y="48006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清晰图纸 · 进度上报 · 验收闭环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126480" y="5394960"/>
            <a:ext cx="5605272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5080" y="5532120"/>
            <a:ext cx="640080" cy="6400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178040" y="55046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</a:t>
            </a:r>
            <a:endParaRPr lang="en-US" sz="1500" dirty="0"/>
          </a:p>
        </p:txBody>
      </p:sp>
      <p:sp>
        <p:nvSpPr>
          <p:cNvPr id="42" name="Text 36"/>
          <p:cNvSpPr/>
          <p:nvPr/>
        </p:nvSpPr>
        <p:spPr>
          <a:xfrm>
            <a:off x="7178040" y="58521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精准采购需求 · 在线报价接单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ROADMAP  ·  路线图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发展路线图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三阶段演进 · 当前 v1.1.7 · Phase 2 进行中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92608" cy="54864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148" y="1783080"/>
            <a:ext cx="3611880" cy="4526280"/>
          </a:xfrm>
          <a:prstGeom prst="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5148" y="1783080"/>
            <a:ext cx="3611880" cy="91440"/>
          </a:xfrm>
          <a:prstGeom prst="rect">
            <a:avLst>
              <a:gd name="adj" fmla="val 100000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468" y="2011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9468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 交付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9468" y="2743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Q4 - 2026 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9468" y="3063240"/>
            <a:ext cx="1371600" cy="320040"/>
          </a:xfrm>
          <a:prstGeom prst="rect">
            <a:avLst>
              <a:gd name="adj" fmla="val 51429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已完成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9468" y="3566160"/>
            <a:ext cx="306324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7756" y="3840480"/>
            <a:ext cx="91440" cy="914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8068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核心后端 · 45 API 模块 · 460 路由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756" y="4297680"/>
            <a:ext cx="91440" cy="914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8068" y="4206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AI Agent 框架 + 9 套布局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756" y="4754880"/>
            <a:ext cx="91440" cy="914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068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41 页面 · Web 17 页面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7756" y="5212080"/>
            <a:ext cx="91440" cy="914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8068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670 测试通过 · 9 跳过 · 0 失败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7756" y="5669280"/>
            <a:ext cx="91440" cy="9144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068" y="5577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PASETO 认证 + WebSocket + IDOR 防护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89908" y="1783080"/>
            <a:ext cx="3611880" cy="4526280"/>
          </a:xfrm>
          <a:prstGeom prst="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89908" y="1783080"/>
            <a:ext cx="3611880" cy="91440"/>
          </a:xfrm>
          <a:prstGeom prst="rect">
            <a:avLst>
              <a:gd name="adj" fmla="val 10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4228" y="2011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64228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深度优化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64228" y="2743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Q3 - Q4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64228" y="3063240"/>
            <a:ext cx="1371600" cy="320040"/>
          </a:xfrm>
          <a:prstGeom prst="rect">
            <a:avLst>
              <a:gd name="adj" fmla="val 51429"/>
            </a:avLst>
          </a:prstGeom>
          <a:solidFill>
            <a:srgbClr val="FF95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● 进行中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64228" y="3566160"/>
            <a:ext cx="306324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82516" y="3840480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2828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推理稳定性优化 (已完成 v1.1.1)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82516" y="4297680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2828" y="4206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WebSocket 心跳 + 僵尸连接清理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82516" y="4754880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2828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HarmonyOS 全适配 (3.35.7-ohos-0.0.3)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82516" y="5212080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2828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实时协作增强 · IM 协作 (F40)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82516" y="5669280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2828" y="5577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性能优化 · FPS 基准测试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84668" y="1783080"/>
            <a:ext cx="3611880" cy="4526280"/>
          </a:xfrm>
          <a:prstGeom prst="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84668" y="1783080"/>
            <a:ext cx="3611880" cy="91440"/>
          </a:xfrm>
          <a:prstGeom prst="rect">
            <a:avLst>
              <a:gd name="adj" fmla="val 100000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58988" y="2011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358988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规模扩展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58988" y="2743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Q1 - Q2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58988" y="3063240"/>
            <a:ext cx="1371600" cy="320040"/>
          </a:xfrm>
          <a:prstGeom prst="rect">
            <a:avLst>
              <a:gd name="adj" fmla="val 51429"/>
            </a:avLst>
          </a:prstGeom>
          <a:solidFill>
            <a:srgbClr val="8E8E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规划中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58988" y="3566160"/>
            <a:ext cx="3063240" cy="0"/>
          </a:xfrm>
          <a:prstGeom prst="line">
            <a:avLst/>
          </a:prstGeom>
          <a:noFill/>
          <a:ln w="12700">
            <a:solidFill>
              <a:srgbClr val="E8E8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77276" y="3840480"/>
            <a:ext cx="91440" cy="91440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87588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供应链金融 · 担保支付增强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77276" y="4297680"/>
            <a:ext cx="91440" cy="91440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87588" y="4206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设计全自动 · 端到端方案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77276" y="4754880"/>
            <a:ext cx="91440" cy="91440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87588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开放平台 API · 第三方接入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377276" y="5212080"/>
            <a:ext cx="91440" cy="91440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87588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国际市场拓展 (东南亚优先)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377276" y="5669280"/>
            <a:ext cx="91440" cy="91440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87588" y="5577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VR/AR 沉浸式体验升级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让每一个人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都能轻松建造理想的家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99C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AI 驱动的全链路智能家居建造平台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434840"/>
            <a:ext cx="5788152" cy="1280160"/>
          </a:xfrm>
          <a:prstGeom prst="rect">
            <a:avLst>
              <a:gd name="adj" fmla="val 7143"/>
            </a:avLst>
          </a:prstGeom>
          <a:solidFill>
            <a:srgbClr val="003166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0" y="452628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99C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联系方式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0" y="489204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song.xu@icloud.com  ·  suoke.life  ·  github.com/SUOKE2024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0" y="525780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D2D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v1.1.7  ·  670 测试通过  ·  10 AI Agent  ·  460 API 端点  ·  四端架构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589788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339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 谢 聆 听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索克家居  ·  i-home.life  ·  基于代码库实测 v1.1.7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E93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i-home.life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索克家居路演 v1.1.7</dc:title>
  <dc:subject>索克家居 · AI 驱动的全链路智能家居建造平台</dc:subject>
  <dc:creator>索克家居团队</dc:creator>
  <cp:lastModifiedBy>索克家居团队</cp:lastModifiedBy>
  <cp:revision>1</cp:revision>
  <dcterms:created xsi:type="dcterms:W3CDTF">2026-07-18T16:58:56Z</dcterms:created>
  <dcterms:modified xsi:type="dcterms:W3CDTF">2026-07-18T16:58:56Z</dcterms:modified>
</cp:coreProperties>
</file>